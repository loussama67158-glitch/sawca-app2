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74"/>
  </p:notesMasterIdLst>
  <p:handoutMasterIdLst>
    <p:handoutMasterId r:id="rId75"/>
  </p:handoutMasterIdLst>
  <p:sldIdLst>
    <p:sldId id="256" r:id="rId2"/>
    <p:sldId id="350" r:id="rId3"/>
    <p:sldId id="281" r:id="rId4"/>
    <p:sldId id="258" r:id="rId5"/>
    <p:sldId id="261" r:id="rId6"/>
    <p:sldId id="280" r:id="rId7"/>
    <p:sldId id="269" r:id="rId8"/>
    <p:sldId id="267" r:id="rId9"/>
    <p:sldId id="331" r:id="rId10"/>
    <p:sldId id="268" r:id="rId11"/>
    <p:sldId id="327" r:id="rId12"/>
    <p:sldId id="274" r:id="rId13"/>
    <p:sldId id="286" r:id="rId14"/>
    <p:sldId id="288" r:id="rId15"/>
    <p:sldId id="285" r:id="rId16"/>
    <p:sldId id="295" r:id="rId17"/>
    <p:sldId id="289" r:id="rId18"/>
    <p:sldId id="276" r:id="rId19"/>
    <p:sldId id="312" r:id="rId20"/>
    <p:sldId id="311" r:id="rId21"/>
    <p:sldId id="313" r:id="rId22"/>
    <p:sldId id="273" r:id="rId23"/>
    <p:sldId id="265" r:id="rId24"/>
    <p:sldId id="314" r:id="rId25"/>
    <p:sldId id="315" r:id="rId26"/>
    <p:sldId id="316" r:id="rId27"/>
    <p:sldId id="343" r:id="rId28"/>
    <p:sldId id="263" r:id="rId29"/>
    <p:sldId id="292" r:id="rId30"/>
    <p:sldId id="346" r:id="rId31"/>
    <p:sldId id="293" r:id="rId32"/>
    <p:sldId id="287" r:id="rId33"/>
    <p:sldId id="296" r:id="rId34"/>
    <p:sldId id="322" r:id="rId35"/>
    <p:sldId id="321" r:id="rId36"/>
    <p:sldId id="318" r:id="rId37"/>
    <p:sldId id="319" r:id="rId38"/>
    <p:sldId id="291" r:id="rId39"/>
    <p:sldId id="301" r:id="rId40"/>
    <p:sldId id="344" r:id="rId41"/>
    <p:sldId id="294" r:id="rId42"/>
    <p:sldId id="283" r:id="rId43"/>
    <p:sldId id="290" r:id="rId44"/>
    <p:sldId id="310" r:id="rId45"/>
    <p:sldId id="325" r:id="rId46"/>
    <p:sldId id="324" r:id="rId47"/>
    <p:sldId id="345" r:id="rId48"/>
    <p:sldId id="323" r:id="rId49"/>
    <p:sldId id="306" r:id="rId50"/>
    <p:sldId id="299" r:id="rId51"/>
    <p:sldId id="347" r:id="rId52"/>
    <p:sldId id="326" r:id="rId53"/>
    <p:sldId id="298" r:id="rId54"/>
    <p:sldId id="308" r:id="rId55"/>
    <p:sldId id="328" r:id="rId56"/>
    <p:sldId id="340" r:id="rId57"/>
    <p:sldId id="330" r:id="rId58"/>
    <p:sldId id="278" r:id="rId59"/>
    <p:sldId id="341" r:id="rId60"/>
    <p:sldId id="342" r:id="rId61"/>
    <p:sldId id="309" r:id="rId62"/>
    <p:sldId id="332" r:id="rId63"/>
    <p:sldId id="348" r:id="rId64"/>
    <p:sldId id="333" r:id="rId65"/>
    <p:sldId id="334" r:id="rId66"/>
    <p:sldId id="335" r:id="rId67"/>
    <p:sldId id="336" r:id="rId68"/>
    <p:sldId id="339" r:id="rId69"/>
    <p:sldId id="338" r:id="rId70"/>
    <p:sldId id="257" r:id="rId71"/>
    <p:sldId id="282" r:id="rId72"/>
    <p:sldId id="349" r:id="rId7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46" d="100"/>
          <a:sy n="146" d="100"/>
        </p:scale>
        <p:origin x="1109" y="18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4783BF-F8EA-43DF-A645-6F6F2E429B88}" type="datetimeFigureOut">
              <a:rPr lang="fr-FR" smtClean="0"/>
              <a:t>20/10/2026</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9AC6BA9-B889-457B-A3B3-496A37972594}" type="slidenum">
              <a:rPr lang="fr-FR" smtClean="0"/>
              <a:t>‹N°›</a:t>
            </a:fld>
            <a:endParaRPr lang="fr-FR"/>
          </a:p>
        </p:txBody>
      </p:sp>
    </p:spTree>
    <p:extLst>
      <p:ext uri="{BB962C8B-B14F-4D97-AF65-F5344CB8AC3E}">
        <p14:creationId xmlns:p14="http://schemas.microsoft.com/office/powerpoint/2010/main" val="1364841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20AAB76-2AB5-4FC8-B79B-D58DB13847BF}" type="datetimeFigureOut">
              <a:rPr lang="fr-FR" smtClean="0"/>
              <a:t>20/10/2026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C6FF82-6A1E-40AA-97AD-80EE0165CC20}" type="slidenum">
              <a:rPr lang="fr-FR" smtClean="0"/>
              <a:t>‹N°›</a:t>
            </a:fld>
            <a:endParaRPr lang="fr-FR"/>
          </a:p>
        </p:txBody>
      </p:sp>
    </p:spTree>
    <p:extLst>
      <p:ext uri="{BB962C8B-B14F-4D97-AF65-F5344CB8AC3E}">
        <p14:creationId xmlns:p14="http://schemas.microsoft.com/office/powerpoint/2010/main" val="1140445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r>
              <a:rPr lang="ar-DZ" dirty="0" smtClean="0"/>
              <a:t>مظ220018/</a:t>
            </a:r>
          </a:p>
          <a:p>
            <a:endParaRPr lang="fr-FR" dirty="0"/>
          </a:p>
        </p:txBody>
      </p:sp>
      <p:sp>
        <p:nvSpPr>
          <p:cNvPr id="4" name="Espace réservé du numéro de diapositive 3"/>
          <p:cNvSpPr>
            <a:spLocks noGrp="1"/>
          </p:cNvSpPr>
          <p:nvPr>
            <p:ph type="sldNum" sz="quarter" idx="10"/>
          </p:nvPr>
        </p:nvSpPr>
        <p:spPr/>
        <p:txBody>
          <a:bodyPr/>
          <a:lstStyle/>
          <a:p>
            <a:fld id="{B0C6FF82-6A1E-40AA-97AD-80EE0165CC20}" type="slidenum">
              <a:rPr lang="fr-FR" smtClean="0"/>
              <a:t>71</a:t>
            </a:fld>
            <a:endParaRPr lang="fr-FR"/>
          </a:p>
        </p:txBody>
      </p:sp>
    </p:spTree>
    <p:extLst>
      <p:ext uri="{BB962C8B-B14F-4D97-AF65-F5344CB8AC3E}">
        <p14:creationId xmlns:p14="http://schemas.microsoft.com/office/powerpoint/2010/main" val="2717348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0C6FF82-6A1E-40AA-97AD-80EE0165CC20}" type="slidenum">
              <a:rPr lang="fr-FR" smtClean="0"/>
              <a:t>72</a:t>
            </a:fld>
            <a:endParaRPr lang="fr-FR"/>
          </a:p>
        </p:txBody>
      </p:sp>
    </p:spTree>
    <p:extLst>
      <p:ext uri="{BB962C8B-B14F-4D97-AF65-F5344CB8AC3E}">
        <p14:creationId xmlns:p14="http://schemas.microsoft.com/office/powerpoint/2010/main" val="2717348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6"/>
            <a:ext cx="7772400" cy="1470025"/>
          </a:xfr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3A4F837C-0670-417F-8F00-C97D0C835155}" type="datetimeFigureOut">
              <a:rPr lang="fr-FR" smtClean="0"/>
              <a:t>20/10/2026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1673886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A4F837C-0670-417F-8F00-C97D0C835155}" type="datetimeFigureOut">
              <a:rPr lang="fr-FR" smtClean="0"/>
              <a:t>20/10/2026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1504973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3A4F837C-0670-417F-8F00-C97D0C835155}" type="datetimeFigureOut">
              <a:rPr lang="fr-FR" smtClean="0"/>
              <a:t>20/10/2026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112500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3A4F837C-0670-417F-8F00-C97D0C835155}" type="datetimeFigureOut">
              <a:rPr lang="fr-FR" smtClean="0"/>
              <a:t>20/10/2026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2957847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3A4F837C-0670-417F-8F00-C97D0C835155}" type="datetimeFigureOut">
              <a:rPr lang="fr-FR" smtClean="0"/>
              <a:t>20/10/2026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309278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3A4F837C-0670-417F-8F00-C97D0C835155}" type="datetimeFigureOut">
              <a:rPr lang="fr-FR" smtClean="0"/>
              <a:t>20/10/2026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765182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A4F837C-0670-417F-8F00-C97D0C835155}" type="datetimeFigureOut">
              <a:rPr lang="fr-FR" smtClean="0"/>
              <a:t>20/10/2026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1923481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1"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3A4F837C-0670-417F-8F00-C97D0C835155}" type="datetimeFigureOut">
              <a:rPr lang="fr-FR" smtClean="0"/>
              <a:t>20/10/2026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1760229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1"/>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3A4F837C-0670-417F-8F00-C97D0C835155}" type="datetimeFigureOut">
              <a:rPr lang="fr-FR" smtClean="0"/>
              <a:t>20/10/2026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4012872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A4F837C-0670-417F-8F00-C97D0C835155}" type="datetimeFigureOut">
              <a:rPr lang="fr-FR" smtClean="0"/>
              <a:t>20/10/2026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2830276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9"/>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9"/>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A4F837C-0670-417F-8F00-C97D0C835155}" type="datetimeFigureOut">
              <a:rPr lang="fr-FR" smtClean="0"/>
              <a:t>20/10/2026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59C1C70-A146-4E00-9D9B-31B86C2CB9C0}" type="slidenum">
              <a:rPr lang="fr-FR" smtClean="0"/>
              <a:t>‹N°›</a:t>
            </a:fld>
            <a:endParaRPr lang="fr-FR"/>
          </a:p>
        </p:txBody>
      </p:sp>
    </p:spTree>
    <p:extLst>
      <p:ext uri="{BB962C8B-B14F-4D97-AF65-F5344CB8AC3E}">
        <p14:creationId xmlns:p14="http://schemas.microsoft.com/office/powerpoint/2010/main" val="1218518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4F837C-0670-417F-8F00-C97D0C835155}" type="datetimeFigureOut">
              <a:rPr lang="fr-FR" smtClean="0"/>
              <a:t>20/10/2026</a:t>
            </a:fld>
            <a:endParaRPr lang="fr-FR"/>
          </a:p>
        </p:txBody>
      </p:sp>
      <p:sp>
        <p:nvSpPr>
          <p:cNvPr id="5" name="Espace réservé du pied de page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9C1C70-A146-4E00-9D9B-31B86C2CB9C0}" type="slidenum">
              <a:rPr lang="fr-FR" smtClean="0"/>
              <a:t>‹N°›</a:t>
            </a:fld>
            <a:endParaRPr lang="fr-FR"/>
          </a:p>
        </p:txBody>
      </p:sp>
    </p:spTree>
    <p:extLst>
      <p:ext uri="{BB962C8B-B14F-4D97-AF65-F5344CB8AC3E}">
        <p14:creationId xmlns:p14="http://schemas.microsoft.com/office/powerpoint/2010/main" val="38376900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2.jpe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8.jpeg"/><Relationship Id="rId2" Type="http://schemas.openxmlformats.org/officeDocument/2006/relationships/image" Target="../media/image33.jpeg"/><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4.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44.jpeg"/><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15.xml.rels><?xml version="1.0" encoding="UTF-8" standalone="yes"?>
<Relationships xmlns="http://schemas.openxmlformats.org/package/2006/relationships"><Relationship Id="rId3" Type="http://schemas.openxmlformats.org/officeDocument/2006/relationships/image" Target="../media/image46.jpeg"/><Relationship Id="rId7" Type="http://schemas.openxmlformats.org/officeDocument/2006/relationships/image" Target="../media/image50.jpeg"/><Relationship Id="rId2" Type="http://schemas.openxmlformats.org/officeDocument/2006/relationships/image" Target="../media/image45.jpeg"/><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s>
</file>

<file path=ppt/slides/_rels/slide16.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56.jpeg"/><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image" Target="../media/image55.jpeg"/><Relationship Id="rId5" Type="http://schemas.openxmlformats.org/officeDocument/2006/relationships/image" Target="../media/image54.jpeg"/><Relationship Id="rId4" Type="http://schemas.openxmlformats.org/officeDocument/2006/relationships/image" Target="../media/image53.jpeg"/></Relationships>
</file>

<file path=ppt/slides/_rels/slide17.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image" Target="../media/image62.jpeg"/><Relationship Id="rId2" Type="http://schemas.openxmlformats.org/officeDocument/2006/relationships/image" Target="../media/image57.jpeg"/><Relationship Id="rId1" Type="http://schemas.openxmlformats.org/officeDocument/2006/relationships/slideLayout" Target="../slideLayouts/slideLayout2.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_rels/slide18.xml.rels><?xml version="1.0" encoding="UTF-8" standalone="yes"?>
<Relationships xmlns="http://schemas.openxmlformats.org/package/2006/relationships"><Relationship Id="rId3" Type="http://schemas.openxmlformats.org/officeDocument/2006/relationships/image" Target="../media/image64.jpeg"/><Relationship Id="rId7" Type="http://schemas.openxmlformats.org/officeDocument/2006/relationships/image" Target="../media/image68.jpeg"/><Relationship Id="rId2" Type="http://schemas.openxmlformats.org/officeDocument/2006/relationships/image" Target="../media/image63.jpeg"/><Relationship Id="rId1" Type="http://schemas.openxmlformats.org/officeDocument/2006/relationships/slideLayout" Target="../slideLayouts/slideLayout2.xml"/><Relationship Id="rId6" Type="http://schemas.openxmlformats.org/officeDocument/2006/relationships/image" Target="../media/image67.jpeg"/><Relationship Id="rId5" Type="http://schemas.openxmlformats.org/officeDocument/2006/relationships/image" Target="../media/image66.jpeg"/><Relationship Id="rId4" Type="http://schemas.openxmlformats.org/officeDocument/2006/relationships/image" Target="../media/image65.jpeg"/></Relationships>
</file>

<file path=ppt/slides/_rels/slide19.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2.xml"/><Relationship Id="rId6" Type="http://schemas.openxmlformats.org/officeDocument/2006/relationships/image" Target="../media/image75.jpeg"/><Relationship Id="rId5" Type="http://schemas.openxmlformats.org/officeDocument/2006/relationships/image" Target="../media/image74.jpeg"/><Relationship Id="rId4" Type="http://schemas.microsoft.com/office/2007/relationships/hdphoto" Target="../media/hdphoto4.wdp"/></Relationships>
</file>

<file path=ppt/slides/_rels/slide29.xml.rels><?xml version="1.0" encoding="UTF-8" standalone="yes"?>
<Relationships xmlns="http://schemas.openxmlformats.org/package/2006/relationships"><Relationship Id="rId3" Type="http://schemas.openxmlformats.org/officeDocument/2006/relationships/image" Target="../media/image77.jpeg"/><Relationship Id="rId7" Type="http://schemas.openxmlformats.org/officeDocument/2006/relationships/image" Target="../media/image80.jpeg"/><Relationship Id="rId2" Type="http://schemas.openxmlformats.org/officeDocument/2006/relationships/image" Target="../media/image76.jpeg"/><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79.jpeg"/><Relationship Id="rId4" Type="http://schemas.openxmlformats.org/officeDocument/2006/relationships/image" Target="../media/image78.jpeg"/></Relationships>
</file>

<file path=ppt/slides/_rels/slide30.xml.rels><?xml version="1.0" encoding="UTF-8" standalone="yes"?>
<Relationships xmlns="http://schemas.openxmlformats.org/package/2006/relationships"><Relationship Id="rId8" Type="http://schemas.openxmlformats.org/officeDocument/2006/relationships/image" Target="../media/image86.jpeg"/><Relationship Id="rId3" Type="http://schemas.openxmlformats.org/officeDocument/2006/relationships/image" Target="../media/image82.jpeg"/><Relationship Id="rId7" Type="http://schemas.microsoft.com/office/2007/relationships/hdphoto" Target="../media/hdphoto5.wdp"/><Relationship Id="rId2" Type="http://schemas.openxmlformats.org/officeDocument/2006/relationships/image" Target="../media/image81.jpeg"/><Relationship Id="rId1" Type="http://schemas.openxmlformats.org/officeDocument/2006/relationships/slideLayout" Target="../slideLayouts/slideLayout2.xml"/><Relationship Id="rId6" Type="http://schemas.openxmlformats.org/officeDocument/2006/relationships/image" Target="../media/image85.jpeg"/><Relationship Id="rId5" Type="http://schemas.openxmlformats.org/officeDocument/2006/relationships/image" Target="../media/image84.jpeg"/><Relationship Id="rId4" Type="http://schemas.openxmlformats.org/officeDocument/2006/relationships/image" Target="../media/image83.jpeg"/></Relationships>
</file>

<file path=ppt/slides/_rels/slide31.xml.rels><?xml version="1.0" encoding="UTF-8" standalone="yes"?>
<Relationships xmlns="http://schemas.openxmlformats.org/package/2006/relationships"><Relationship Id="rId8" Type="http://schemas.openxmlformats.org/officeDocument/2006/relationships/image" Target="../media/image25.jpeg"/><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87.jpeg"/><Relationship Id="rId1" Type="http://schemas.openxmlformats.org/officeDocument/2006/relationships/slideLayout" Target="../slideLayouts/slideLayout2.xml"/><Relationship Id="rId6" Type="http://schemas.openxmlformats.org/officeDocument/2006/relationships/image" Target="../media/image89.jpeg"/><Relationship Id="rId5" Type="http://schemas.microsoft.com/office/2007/relationships/hdphoto" Target="../media/hdphoto7.wdp"/><Relationship Id="rId10" Type="http://schemas.openxmlformats.org/officeDocument/2006/relationships/image" Target="../media/image91.jpeg"/><Relationship Id="rId4" Type="http://schemas.openxmlformats.org/officeDocument/2006/relationships/image" Target="../media/image88.jpeg"/><Relationship Id="rId9" Type="http://schemas.openxmlformats.org/officeDocument/2006/relationships/image" Target="../media/image90.jpeg"/></Relationships>
</file>

<file path=ppt/slides/_rels/slide32.xml.rels><?xml version="1.0" encoding="UTF-8" standalone="yes"?>
<Relationships xmlns="http://schemas.openxmlformats.org/package/2006/relationships"><Relationship Id="rId8" Type="http://schemas.openxmlformats.org/officeDocument/2006/relationships/image" Target="../media/image96.jpeg"/><Relationship Id="rId3" Type="http://schemas.microsoft.com/office/2007/relationships/hdphoto" Target="../media/hdphoto9.wdp"/><Relationship Id="rId7" Type="http://schemas.openxmlformats.org/officeDocument/2006/relationships/image" Target="../media/image95.jpeg"/><Relationship Id="rId2" Type="http://schemas.openxmlformats.org/officeDocument/2006/relationships/image" Target="../media/image92.jpeg"/><Relationship Id="rId1" Type="http://schemas.openxmlformats.org/officeDocument/2006/relationships/slideLayout" Target="../slideLayouts/slideLayout2.xml"/><Relationship Id="rId6" Type="http://schemas.openxmlformats.org/officeDocument/2006/relationships/image" Target="../media/image94.jpeg"/><Relationship Id="rId5" Type="http://schemas.microsoft.com/office/2007/relationships/hdphoto" Target="../media/hdphoto10.wdp"/><Relationship Id="rId4" Type="http://schemas.openxmlformats.org/officeDocument/2006/relationships/image" Target="../media/image93.jpeg"/><Relationship Id="rId9" Type="http://schemas.openxmlformats.org/officeDocument/2006/relationships/image" Target="../media/image97.jpeg"/></Relationships>
</file>

<file path=ppt/slides/_rels/slide33.xml.rels><?xml version="1.0" encoding="UTF-8" standalone="yes"?>
<Relationships xmlns="http://schemas.openxmlformats.org/package/2006/relationships"><Relationship Id="rId8" Type="http://schemas.openxmlformats.org/officeDocument/2006/relationships/image" Target="../media/image102.jpeg"/><Relationship Id="rId3" Type="http://schemas.microsoft.com/office/2007/relationships/hdphoto" Target="../media/hdphoto11.wdp"/><Relationship Id="rId7" Type="http://schemas.openxmlformats.org/officeDocument/2006/relationships/image" Target="../media/image101.jpeg"/><Relationship Id="rId2" Type="http://schemas.openxmlformats.org/officeDocument/2006/relationships/image" Target="../media/image98.jpeg"/><Relationship Id="rId1" Type="http://schemas.openxmlformats.org/officeDocument/2006/relationships/slideLayout" Target="../slideLayouts/slideLayout2.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77.jpeg"/></Relationships>
</file>

<file path=ppt/slides/_rels/slide34.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7.jpeg"/><Relationship Id="rId7" Type="http://schemas.openxmlformats.org/officeDocument/2006/relationships/image" Target="../media/image111.jpeg"/><Relationship Id="rId2" Type="http://schemas.openxmlformats.org/officeDocument/2006/relationships/image" Target="../media/image106.jpeg"/><Relationship Id="rId1" Type="http://schemas.openxmlformats.org/officeDocument/2006/relationships/slideLayout" Target="../slideLayouts/slideLayout2.xml"/><Relationship Id="rId6" Type="http://schemas.openxmlformats.org/officeDocument/2006/relationships/image" Target="../media/image110.jpeg"/><Relationship Id="rId5" Type="http://schemas.openxmlformats.org/officeDocument/2006/relationships/image" Target="../media/image109.jpeg"/><Relationship Id="rId4" Type="http://schemas.openxmlformats.org/officeDocument/2006/relationships/image" Target="../media/image108.jpeg"/></Relationships>
</file>

<file path=ppt/slides/_rels/slide39.xml.rels><?xml version="1.0" encoding="UTF-8" standalone="yes"?>
<Relationships xmlns="http://schemas.openxmlformats.org/package/2006/relationships"><Relationship Id="rId3" Type="http://schemas.openxmlformats.org/officeDocument/2006/relationships/image" Target="../media/image113.jpeg"/><Relationship Id="rId7" Type="http://schemas.openxmlformats.org/officeDocument/2006/relationships/image" Target="../media/image117.jpeg"/><Relationship Id="rId2" Type="http://schemas.openxmlformats.org/officeDocument/2006/relationships/image" Target="../media/image112.jpeg"/><Relationship Id="rId1" Type="http://schemas.openxmlformats.org/officeDocument/2006/relationships/slideLayout" Target="../slideLayouts/slideLayout2.xml"/><Relationship Id="rId6" Type="http://schemas.openxmlformats.org/officeDocument/2006/relationships/image" Target="../media/image116.jpeg"/><Relationship Id="rId5" Type="http://schemas.openxmlformats.org/officeDocument/2006/relationships/image" Target="../media/image115.jpeg"/><Relationship Id="rId4" Type="http://schemas.openxmlformats.org/officeDocument/2006/relationships/image" Target="../media/image114.jpeg"/></Relationships>
</file>

<file path=ppt/slides/_rels/slide40.xml.rels><?xml version="1.0" encoding="UTF-8" standalone="yes"?>
<Relationships xmlns="http://schemas.openxmlformats.org/package/2006/relationships"><Relationship Id="rId3" Type="http://schemas.openxmlformats.org/officeDocument/2006/relationships/image" Target="../media/image119.jpeg"/><Relationship Id="rId7" Type="http://schemas.openxmlformats.org/officeDocument/2006/relationships/image" Target="../media/image123.jpeg"/><Relationship Id="rId2" Type="http://schemas.openxmlformats.org/officeDocument/2006/relationships/image" Target="../media/image118.jpeg"/><Relationship Id="rId1" Type="http://schemas.openxmlformats.org/officeDocument/2006/relationships/slideLayout" Target="../slideLayouts/slideLayout2.xml"/><Relationship Id="rId6" Type="http://schemas.openxmlformats.org/officeDocument/2006/relationships/image" Target="../media/image122.jpeg"/><Relationship Id="rId5" Type="http://schemas.openxmlformats.org/officeDocument/2006/relationships/image" Target="../media/image121.jpeg"/><Relationship Id="rId4" Type="http://schemas.openxmlformats.org/officeDocument/2006/relationships/image" Target="../media/image120.jpeg"/></Relationships>
</file>

<file path=ppt/slides/_rels/slide41.xml.rels><?xml version="1.0" encoding="UTF-8" standalone="yes"?>
<Relationships xmlns="http://schemas.openxmlformats.org/package/2006/relationships"><Relationship Id="rId8" Type="http://schemas.openxmlformats.org/officeDocument/2006/relationships/image" Target="../media/image128.jpeg"/><Relationship Id="rId3" Type="http://schemas.microsoft.com/office/2007/relationships/hdphoto" Target="../media/hdphoto12.wdp"/><Relationship Id="rId7" Type="http://schemas.openxmlformats.org/officeDocument/2006/relationships/image" Target="../media/image127.jpeg"/><Relationship Id="rId2" Type="http://schemas.openxmlformats.org/officeDocument/2006/relationships/image" Target="../media/image124.jpeg"/><Relationship Id="rId1" Type="http://schemas.openxmlformats.org/officeDocument/2006/relationships/slideLayout" Target="../slideLayouts/slideLayout2.xml"/><Relationship Id="rId6" Type="http://schemas.openxmlformats.org/officeDocument/2006/relationships/image" Target="../media/image126.jpeg"/><Relationship Id="rId5" Type="http://schemas.openxmlformats.org/officeDocument/2006/relationships/image" Target="../media/image125.jpeg"/><Relationship Id="rId4" Type="http://schemas.openxmlformats.org/officeDocument/2006/relationships/image" Target="../media/image42.jpeg"/></Relationships>
</file>

<file path=ppt/slides/_rels/slide42.xml.rels><?xml version="1.0" encoding="UTF-8" standalone="yes"?>
<Relationships xmlns="http://schemas.openxmlformats.org/package/2006/relationships"><Relationship Id="rId3" Type="http://schemas.openxmlformats.org/officeDocument/2006/relationships/image" Target="../media/image51.jpeg"/><Relationship Id="rId7" Type="http://schemas.openxmlformats.org/officeDocument/2006/relationships/image" Target="../media/image55.jpeg"/><Relationship Id="rId2" Type="http://schemas.openxmlformats.org/officeDocument/2006/relationships/image" Target="../media/image56.jpeg"/><Relationship Id="rId1" Type="http://schemas.openxmlformats.org/officeDocument/2006/relationships/slideLayout" Target="../slideLayouts/slideLayout2.xml"/><Relationship Id="rId6" Type="http://schemas.openxmlformats.org/officeDocument/2006/relationships/image" Target="../media/image130.jpeg"/><Relationship Id="rId5" Type="http://schemas.openxmlformats.org/officeDocument/2006/relationships/image" Target="../media/image52.jpeg"/><Relationship Id="rId4" Type="http://schemas.openxmlformats.org/officeDocument/2006/relationships/image" Target="../media/image129.jpeg"/></Relationships>
</file>

<file path=ppt/slides/_rels/slide43.xml.rels><?xml version="1.0" encoding="UTF-8" standalone="yes"?>
<Relationships xmlns="http://schemas.openxmlformats.org/package/2006/relationships"><Relationship Id="rId8" Type="http://schemas.openxmlformats.org/officeDocument/2006/relationships/image" Target="../media/image136.jpeg"/><Relationship Id="rId3" Type="http://schemas.microsoft.com/office/2007/relationships/hdphoto" Target="../media/hdphoto13.wdp"/><Relationship Id="rId7" Type="http://schemas.openxmlformats.org/officeDocument/2006/relationships/image" Target="../media/image135.jpeg"/><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34.jpeg"/><Relationship Id="rId5" Type="http://schemas.openxmlformats.org/officeDocument/2006/relationships/image" Target="../media/image133.jpeg"/><Relationship Id="rId4" Type="http://schemas.openxmlformats.org/officeDocument/2006/relationships/image" Target="../media/image132.jpeg"/></Relationships>
</file>

<file path=ppt/slides/_rels/slide44.xml.rels><?xml version="1.0" encoding="UTF-8" standalone="yes"?>
<Relationships xmlns="http://schemas.openxmlformats.org/package/2006/relationships"><Relationship Id="rId3" Type="http://schemas.openxmlformats.org/officeDocument/2006/relationships/image" Target="../media/image138.jpeg"/><Relationship Id="rId7" Type="http://schemas.openxmlformats.org/officeDocument/2006/relationships/image" Target="../media/image142.jpeg"/><Relationship Id="rId2" Type="http://schemas.openxmlformats.org/officeDocument/2006/relationships/image" Target="../media/image137.jpeg"/><Relationship Id="rId1" Type="http://schemas.openxmlformats.org/officeDocument/2006/relationships/slideLayout" Target="../slideLayouts/slideLayout2.xml"/><Relationship Id="rId6" Type="http://schemas.openxmlformats.org/officeDocument/2006/relationships/image" Target="../media/image141.jpeg"/><Relationship Id="rId5" Type="http://schemas.openxmlformats.org/officeDocument/2006/relationships/image" Target="../media/image140.jpeg"/><Relationship Id="rId4" Type="http://schemas.openxmlformats.org/officeDocument/2006/relationships/image" Target="../media/image139.jpeg"/></Relationships>
</file>

<file path=ppt/slides/_rels/slide45.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14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image" Target="../media/image145.jpeg"/><Relationship Id="rId1" Type="http://schemas.openxmlformats.org/officeDocument/2006/relationships/slideLayout" Target="../slideLayouts/slideLayout2.xml"/><Relationship Id="rId5" Type="http://schemas.openxmlformats.org/officeDocument/2006/relationships/image" Target="../media/image147.jpeg"/><Relationship Id="rId4" Type="http://schemas.openxmlformats.org/officeDocument/2006/relationships/image" Target="../media/image108.jpeg"/></Relationships>
</file>

<file path=ppt/slides/_rels/slide51.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image" Target="../media/image83.jpeg"/><Relationship Id="rId1" Type="http://schemas.openxmlformats.org/officeDocument/2006/relationships/slideLayout" Target="../slideLayouts/slideLayout2.xml"/><Relationship Id="rId6" Type="http://schemas.openxmlformats.org/officeDocument/2006/relationships/image" Target="../media/image150.jpeg"/><Relationship Id="rId5" Type="http://schemas.microsoft.com/office/2007/relationships/hdphoto" Target="../media/hdphoto15.wdp"/><Relationship Id="rId4" Type="http://schemas.openxmlformats.org/officeDocument/2006/relationships/image" Target="../media/image149.jpeg"/></Relationships>
</file>

<file path=ppt/slides/_rels/slide52.xml.rels><?xml version="1.0" encoding="UTF-8" standalone="yes"?>
<Relationships xmlns="http://schemas.openxmlformats.org/package/2006/relationships"><Relationship Id="rId2" Type="http://schemas.openxmlformats.org/officeDocument/2006/relationships/image" Target="../media/image15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15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image" Target="../media/image153.jpeg"/><Relationship Id="rId1" Type="http://schemas.openxmlformats.org/officeDocument/2006/relationships/slideLayout" Target="../slideLayouts/slideLayout2.xml"/><Relationship Id="rId4" Type="http://schemas.openxmlformats.org/officeDocument/2006/relationships/image" Target="../media/image155.jpeg"/></Relationships>
</file>

<file path=ppt/slides/_rels/slide64.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image" Target="../media/image156.jpeg"/><Relationship Id="rId1" Type="http://schemas.openxmlformats.org/officeDocument/2006/relationships/slideLayout" Target="../slideLayouts/slideLayout2.xml"/><Relationship Id="rId4" Type="http://schemas.openxmlformats.org/officeDocument/2006/relationships/image" Target="../media/image158.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60.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03648" y="332656"/>
            <a:ext cx="5976664" cy="1224136"/>
          </a:xfrm>
          <a:noFill/>
          <a:ln>
            <a:noFill/>
          </a:ln>
        </p:spPr>
        <p:style>
          <a:lnRef idx="0">
            <a:schemeClr val="accent1"/>
          </a:lnRef>
          <a:fillRef idx="3">
            <a:schemeClr val="accent1"/>
          </a:fillRef>
          <a:effectRef idx="3">
            <a:schemeClr val="accent1"/>
          </a:effectRef>
          <a:fontRef idx="minor">
            <a:schemeClr val="lt1"/>
          </a:fontRef>
        </p:style>
        <p:txBody>
          <a:bodyPr>
            <a:noAutofit/>
            <a:scene3d>
              <a:camera prst="orthographicFront"/>
              <a:lightRig rig="balanced" dir="t">
                <a:rot lat="0" lon="0" rev="2100000"/>
              </a:lightRig>
            </a:scene3d>
            <a:sp3d extrusionH="57150" prstMaterial="metal">
              <a:bevelT w="38100" h="25400"/>
              <a:contourClr>
                <a:schemeClr val="bg2"/>
              </a:contourClr>
            </a:sp3d>
          </a:bodyPr>
          <a:lstStyle/>
          <a:p>
            <a:r>
              <a:rPr lang="ar-DZ" sz="2800" b="1" dirty="0" smtClean="0">
                <a:ln w="50800">
                  <a:noFill/>
                </a:ln>
                <a:solidFill>
                  <a:schemeClr val="tx1"/>
                </a:solidFill>
                <a:effectLst/>
                <a:latin typeface="Arabic Typesetting" pitchFamily="66" charset="-78"/>
                <a:cs typeface="+mj-cs"/>
              </a:rPr>
              <a:t>برنامج معلوماتي لتقييم الفهم الكتابي عند الحبسي الراشد</a:t>
            </a:r>
            <a:endParaRPr lang="fr-FR" sz="2800" b="1" dirty="0">
              <a:ln w="50800">
                <a:noFill/>
              </a:ln>
              <a:solidFill>
                <a:schemeClr val="tx1"/>
              </a:solidFill>
              <a:effectLst/>
              <a:latin typeface="Arabic Typesetting" pitchFamily="66" charset="-78"/>
              <a:cs typeface="+mj-cs"/>
            </a:endParaRPr>
          </a:p>
        </p:txBody>
      </p:sp>
      <p:pic>
        <p:nvPicPr>
          <p:cNvPr id="3075" name="Picture 3" descr="C:\Users\Oussama\Desktop\mem2022\tools\img\Cute-Ball-Help-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5877352"/>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C:\Users\Oussama\Desktop\mem2022\tools\img\Nouveau dossier\kisspng-computer-icons-login-icon-design-exit-5abfc840a37e39.3464834815225180806697.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329" y="5805352"/>
            <a:ext cx="1370772" cy="792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95536" y="1438032"/>
            <a:ext cx="8485877" cy="3647152"/>
          </a:xfrm>
          <a:prstGeom prst="rect">
            <a:avLst/>
          </a:prstGeom>
        </p:spPr>
        <p:txBody>
          <a:bodyPr wrap="square">
            <a:spAutoFit/>
          </a:bodyPr>
          <a:lstStyle/>
          <a:p>
            <a:pPr indent="269875" algn="just" rtl="1">
              <a:spcAft>
                <a:spcPts val="600"/>
              </a:spcAft>
              <a:tabLst>
                <a:tab pos="5670550" algn="r"/>
              </a:tabLst>
            </a:pPr>
            <a:r>
              <a:rPr lang="ar-SA" dirty="0">
                <a:latin typeface="Times New Roman"/>
                <a:ea typeface="Times New Roman"/>
                <a:cs typeface="Simplified Arabic"/>
              </a:rPr>
              <a:t>تم اعداد هذا البرنامج المعلوماتي في اطار إعداد مذكرة لنيل شهادة الماستر تخصص أمراض اللغة والتواصل بجامعة لونيسي علي البليدة 2 بعنوان:</a:t>
            </a:r>
            <a:endParaRPr lang="fr-FR" sz="1400" dirty="0">
              <a:latin typeface="Times New Roman"/>
              <a:ea typeface="Times New Roman"/>
            </a:endParaRPr>
          </a:p>
          <a:p>
            <a:pPr algn="ctr" rtl="1">
              <a:spcAft>
                <a:spcPts val="600"/>
              </a:spcAft>
              <a:tabLst>
                <a:tab pos="5670550" algn="r"/>
              </a:tabLst>
            </a:pPr>
            <a:r>
              <a:rPr lang="ar-SA" b="1" dirty="0">
                <a:latin typeface="Times New Roman"/>
                <a:ea typeface="Times New Roman"/>
                <a:cs typeface="Simplified Arabic"/>
              </a:rPr>
              <a:t>دراسة الفهم الكتابي عند الحبسي الراشد من خلال محاولة بناء برنامج معلوماتي تقييمي</a:t>
            </a:r>
            <a:endParaRPr lang="fr-FR" sz="1400" dirty="0">
              <a:latin typeface="Times New Roman"/>
              <a:ea typeface="Times New Roman"/>
            </a:endParaRPr>
          </a:p>
          <a:p>
            <a:pPr algn="just" rtl="1">
              <a:spcAft>
                <a:spcPts val="0"/>
              </a:spcAft>
              <a:tabLst>
                <a:tab pos="5670550" algn="r"/>
              </a:tabLst>
            </a:pPr>
            <a:r>
              <a:rPr lang="ar-SA" b="1" dirty="0">
                <a:latin typeface="Times New Roman"/>
                <a:ea typeface="Times New Roman"/>
                <a:cs typeface="Simplified Arabic"/>
              </a:rPr>
              <a:t>اعداد الطالب:</a:t>
            </a:r>
            <a:r>
              <a:rPr lang="ar-SA" dirty="0">
                <a:latin typeface="Times New Roman"/>
                <a:ea typeface="Times New Roman"/>
                <a:cs typeface="Simplified Arabic"/>
              </a:rPr>
              <a:t> شتوان أسامة </a:t>
            </a:r>
            <a:endParaRPr lang="fr-FR" sz="1400" dirty="0">
              <a:latin typeface="Times New Roman"/>
              <a:ea typeface="Times New Roman"/>
            </a:endParaRPr>
          </a:p>
          <a:p>
            <a:pPr algn="just" rtl="1">
              <a:spcAft>
                <a:spcPts val="0"/>
              </a:spcAft>
              <a:tabLst>
                <a:tab pos="5670550" algn="r"/>
              </a:tabLst>
            </a:pPr>
            <a:r>
              <a:rPr lang="ar-SA" b="1" dirty="0">
                <a:latin typeface="Times New Roman"/>
                <a:ea typeface="Times New Roman"/>
                <a:cs typeface="Simplified Arabic"/>
              </a:rPr>
              <a:t>اشراف الأستاذة:</a:t>
            </a:r>
            <a:r>
              <a:rPr lang="ar-SA" dirty="0">
                <a:latin typeface="Times New Roman"/>
                <a:ea typeface="Times New Roman"/>
                <a:cs typeface="Simplified Arabic"/>
              </a:rPr>
              <a:t> صام نادية</a:t>
            </a:r>
            <a:endParaRPr lang="fr-FR" sz="1400" dirty="0">
              <a:latin typeface="Times New Roman"/>
              <a:ea typeface="Times New Roman"/>
            </a:endParaRPr>
          </a:p>
          <a:p>
            <a:pPr algn="just" rtl="1">
              <a:spcAft>
                <a:spcPts val="600"/>
              </a:spcAft>
              <a:tabLst>
                <a:tab pos="5670550" algn="r"/>
              </a:tabLst>
            </a:pPr>
            <a:r>
              <a:rPr lang="ar-SA" b="1" dirty="0">
                <a:latin typeface="Times New Roman"/>
                <a:ea typeface="Times New Roman"/>
                <a:cs typeface="Simplified Arabic"/>
              </a:rPr>
              <a:t>السنة الدراسية:</a:t>
            </a:r>
            <a:r>
              <a:rPr lang="ar-SA" dirty="0">
                <a:latin typeface="Times New Roman"/>
                <a:ea typeface="Times New Roman"/>
                <a:cs typeface="Simplified Arabic"/>
              </a:rPr>
              <a:t> 2021/2022</a:t>
            </a:r>
            <a:endParaRPr lang="fr-FR" sz="1400" dirty="0">
              <a:latin typeface="Times New Roman"/>
              <a:ea typeface="Times New Roman"/>
            </a:endParaRPr>
          </a:p>
          <a:p>
            <a:pPr algn="just" rtl="1"/>
            <a:r>
              <a:rPr lang="ar-DZ" dirty="0">
                <a:ea typeface="Calibri"/>
                <a:cs typeface="Simplified Arabic"/>
              </a:rPr>
              <a:t> </a:t>
            </a:r>
            <a:r>
              <a:rPr lang="ar-DZ" dirty="0" smtClean="0">
                <a:ea typeface="Calibri"/>
                <a:cs typeface="Simplified Arabic"/>
              </a:rPr>
              <a:t>  </a:t>
            </a:r>
            <a:r>
              <a:rPr lang="ar-SA" dirty="0" smtClean="0">
                <a:ea typeface="Calibri"/>
                <a:cs typeface="Simplified Arabic"/>
              </a:rPr>
              <a:t>يعد </a:t>
            </a:r>
            <a:r>
              <a:rPr lang="ar-SA" dirty="0">
                <a:ea typeface="Calibri"/>
                <a:cs typeface="Simplified Arabic"/>
              </a:rPr>
              <a:t>هذا البرنامج التقييمي تتويجًا لبحث مكثف في مفاهيم اللغة المكتوبة إذ يهدف إلى قياس الفهم الكتابي عند الحبسي الراشد ما بين 20 و60 سنة من الجنسين كأحد الأدوات المساهمة في تقييم القدرات اللغوية المتضررة والمحتفظ بهـا بمراعاة خصائص هذا الاضطراب والحالة الصحية للمفحوص بتسهيل استجابته، و ذلك باستغـلال وسيلة يعتاد على استعمالها كالكمبيوتر أو اللوح الالكتروني، مع مراعاة الخصائص اللغوية والثقافية للبيئة الجزائرية، كما يسهل هذا البرنامج عملية القياس والتقييم الأرطوفوني من خلال تسجيل المعطيات وحساب النتائج آليا بالاعتماد على تكنولوجيات الإعلام الآلي.</a:t>
            </a:r>
            <a:endParaRPr lang="fr-FR" dirty="0"/>
          </a:p>
        </p:txBody>
      </p:sp>
      <p:pic>
        <p:nvPicPr>
          <p:cNvPr id="12" name="Picture 6" descr="C:\Users\Oussama\Desktop\mem2022\tools\img\green-start-button-png-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8474" y="5193336"/>
            <a:ext cx="1260000" cy="12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915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3568" y="548680"/>
            <a:ext cx="7772400" cy="2592288"/>
          </a:xfrm>
          <a:noFill/>
          <a:ln>
            <a:noFill/>
          </a:ln>
        </p:spPr>
        <p:style>
          <a:lnRef idx="0">
            <a:schemeClr val="accent1"/>
          </a:lnRef>
          <a:fillRef idx="3">
            <a:schemeClr val="accent1"/>
          </a:fillRef>
          <a:effectRef idx="3">
            <a:schemeClr val="accent1"/>
          </a:effectRef>
          <a:fontRef idx="minor">
            <a:schemeClr val="lt1"/>
          </a:fontRef>
        </p:style>
        <p:txBody>
          <a:bodyPr>
            <a:normAutofit/>
            <a:scene3d>
              <a:camera prst="orthographicFront"/>
              <a:lightRig rig="balanced" dir="t">
                <a:rot lat="0" lon="0" rev="2100000"/>
              </a:lightRig>
            </a:scene3d>
            <a:sp3d extrusionH="57150" prstMaterial="metal">
              <a:bevelT w="38100" h="25400"/>
              <a:contourClr>
                <a:schemeClr val="bg2"/>
              </a:contourClr>
            </a:sp3d>
          </a:bodyPr>
          <a:lstStyle/>
          <a:p>
            <a:r>
              <a:rPr lang="ar-DZ" sz="5400" b="1" dirty="0" smtClean="0">
                <a:ln w="50800">
                  <a:noFill/>
                </a:ln>
                <a:solidFill>
                  <a:schemeClr val="tx1"/>
                </a:solidFill>
                <a:effectLst/>
                <a:latin typeface="Arabic Typesetting" pitchFamily="66" charset="-78"/>
                <a:cs typeface="+mj-cs"/>
              </a:rPr>
              <a:t>برنامج معلوماتي لتقييم الفهم الكتابي عند الحبسي الراشد</a:t>
            </a:r>
            <a:endParaRPr lang="fr-FR" sz="5400" b="1" dirty="0">
              <a:ln w="50800">
                <a:noFill/>
              </a:ln>
              <a:solidFill>
                <a:schemeClr val="tx1"/>
              </a:solidFill>
              <a:effectLst/>
              <a:latin typeface="Arabic Typesetting" pitchFamily="66" charset="-78"/>
              <a:cs typeface="+mj-cs"/>
            </a:endParaRPr>
          </a:p>
        </p:txBody>
      </p:sp>
      <p:pic>
        <p:nvPicPr>
          <p:cNvPr id="3075" name="Picture 3" descr="C:\Users\Oussama\Desktop\mem2022\tools\img\Cute-Ball-Help-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5877352"/>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C:\Users\Oussama\Desktop\mem2022\tools\img\Nouveau dossier\kisspng-computer-icons-login-icon-design-exit-5abfc840a37e39.3464834815225180806697.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329" y="5805352"/>
            <a:ext cx="1370772" cy="792000"/>
          </a:xfrm>
          <a:prstGeom prst="rect">
            <a:avLst/>
          </a:prstGeom>
          <a:noFill/>
          <a:extLst>
            <a:ext uri="{909E8E84-426E-40DD-AFC4-6F175D3DCCD1}">
              <a14:hiddenFill xmlns:a14="http://schemas.microsoft.com/office/drawing/2010/main">
                <a:solidFill>
                  <a:srgbClr val="FFFFFF"/>
                </a:solidFill>
              </a14:hiddenFill>
            </a:ext>
          </a:extLst>
        </p:spPr>
      </p:pic>
      <p:sp>
        <p:nvSpPr>
          <p:cNvPr id="6" name="Titre 1"/>
          <p:cNvSpPr txBox="1">
            <a:spLocks/>
          </p:cNvSpPr>
          <p:nvPr/>
        </p:nvSpPr>
        <p:spPr>
          <a:xfrm>
            <a:off x="1772072" y="3422385"/>
            <a:ext cx="5392216" cy="798704"/>
          </a:xfrm>
          <a:prstGeom prst="rect">
            <a:avLst/>
          </a:prstGeom>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ctr">
            <a:normAutofit/>
            <a:scene3d>
              <a:camera prst="orthographicFront"/>
              <a:lightRig rig="balanced" dir="t">
                <a:rot lat="0" lon="0" rev="2100000"/>
              </a:lightRig>
            </a:scene3d>
            <a:sp3d extrusionH="57150" prstMaterial="metal">
              <a:bevelT w="38100" h="25400"/>
              <a:contourClr>
                <a:schemeClr val="bg2"/>
              </a:contourClr>
            </a:sp3d>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rtl="1"/>
            <a:r>
              <a:rPr lang="ar-DZ" sz="3600" b="1" dirty="0" smtClean="0">
                <a:ln w="50800">
                  <a:noFill/>
                </a:ln>
                <a:solidFill>
                  <a:schemeClr val="tx1"/>
                </a:solidFill>
                <a:latin typeface="Arabic Typesetting" pitchFamily="66" charset="-78"/>
              </a:rPr>
              <a:t>بداية تقييم جديد</a:t>
            </a:r>
          </a:p>
        </p:txBody>
      </p:sp>
      <p:sp>
        <p:nvSpPr>
          <p:cNvPr id="7" name="Titre 1"/>
          <p:cNvSpPr txBox="1">
            <a:spLocks/>
          </p:cNvSpPr>
          <p:nvPr/>
        </p:nvSpPr>
        <p:spPr>
          <a:xfrm>
            <a:off x="1772072" y="4424908"/>
            <a:ext cx="5392216" cy="798704"/>
          </a:xfrm>
          <a:prstGeom prst="rect">
            <a:avLst/>
          </a:prstGeom>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ctr">
            <a:normAutofit/>
            <a:scene3d>
              <a:camera prst="orthographicFront"/>
              <a:lightRig rig="balanced" dir="t">
                <a:rot lat="0" lon="0" rev="2100000"/>
              </a:lightRig>
            </a:scene3d>
            <a:sp3d extrusionH="57150" prstMaterial="metal">
              <a:bevelT w="38100" h="25400"/>
              <a:contourClr>
                <a:schemeClr val="bg2"/>
              </a:contourClr>
            </a:sp3d>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rtl="1"/>
            <a:r>
              <a:rPr lang="ar-DZ" sz="3600" b="1" dirty="0" smtClean="0">
                <a:ln w="50800">
                  <a:noFill/>
                </a:ln>
                <a:solidFill>
                  <a:schemeClr val="tx1"/>
                </a:solidFill>
                <a:latin typeface="Arabic Typesetting" pitchFamily="66" charset="-78"/>
              </a:rPr>
              <a:t>اتمام تقييم لم يكمل</a:t>
            </a:r>
          </a:p>
        </p:txBody>
      </p:sp>
      <p:sp>
        <p:nvSpPr>
          <p:cNvPr id="8" name="Titre 1"/>
          <p:cNvSpPr txBox="1">
            <a:spLocks/>
          </p:cNvSpPr>
          <p:nvPr/>
        </p:nvSpPr>
        <p:spPr>
          <a:xfrm>
            <a:off x="1763688" y="5443402"/>
            <a:ext cx="5392216" cy="798704"/>
          </a:xfrm>
          <a:prstGeom prst="rect">
            <a:avLst/>
          </a:prstGeom>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ctr">
            <a:normAutofit/>
            <a:scene3d>
              <a:camera prst="orthographicFront"/>
              <a:lightRig rig="balanced" dir="t">
                <a:rot lat="0" lon="0" rev="2100000"/>
              </a:lightRig>
            </a:scene3d>
            <a:sp3d extrusionH="57150" prstMaterial="metal">
              <a:bevelT w="38100" h="25400"/>
              <a:contourClr>
                <a:schemeClr val="bg2"/>
              </a:contourClr>
            </a:sp3d>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rtl="1"/>
            <a:r>
              <a:rPr lang="ar-DZ" sz="3600" b="1" dirty="0" smtClean="0">
                <a:ln w="50800">
                  <a:noFill/>
                </a:ln>
                <a:solidFill>
                  <a:schemeClr val="tx1"/>
                </a:solidFill>
                <a:latin typeface="Arabic Typesetting" pitchFamily="66" charset="-78"/>
              </a:rPr>
              <a:t>الاطلاع على نتائج تقييم سابق</a:t>
            </a:r>
          </a:p>
        </p:txBody>
      </p:sp>
      <p:sp>
        <p:nvSpPr>
          <p:cNvPr id="9" name="Rectangle à coins arrondis 8"/>
          <p:cNvSpPr/>
          <p:nvPr/>
        </p:nvSpPr>
        <p:spPr>
          <a:xfrm>
            <a:off x="3707904" y="5043592"/>
            <a:ext cx="1512168" cy="360040"/>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r" rtl="1"/>
            <a:r>
              <a:rPr lang="ar-DZ" sz="1200" dirty="0" smtClean="0">
                <a:solidFill>
                  <a:schemeClr val="bg1">
                    <a:lumMod val="85000"/>
                  </a:schemeClr>
                </a:solidFill>
              </a:rPr>
              <a:t>يوجه لواجه ماقبل الأخيرة</a:t>
            </a:r>
            <a:endParaRPr lang="fr-FR" sz="1200" dirty="0">
              <a:solidFill>
                <a:schemeClr val="bg1">
                  <a:lumMod val="85000"/>
                </a:schemeClr>
              </a:solidFill>
            </a:endParaRPr>
          </a:p>
        </p:txBody>
      </p:sp>
      <p:sp>
        <p:nvSpPr>
          <p:cNvPr id="10" name="Rectangle à coins arrondis 9"/>
          <p:cNvSpPr/>
          <p:nvPr/>
        </p:nvSpPr>
        <p:spPr>
          <a:xfrm>
            <a:off x="3712096" y="6237352"/>
            <a:ext cx="1512168" cy="360040"/>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r" rtl="1"/>
            <a:r>
              <a:rPr lang="ar-DZ" sz="1200" dirty="0" smtClean="0">
                <a:solidFill>
                  <a:schemeClr val="bg1">
                    <a:lumMod val="85000"/>
                  </a:schemeClr>
                </a:solidFill>
              </a:rPr>
              <a:t>يوجه لواجه ماقبل الأخيرة</a:t>
            </a:r>
            <a:endParaRPr lang="fr-FR" sz="1200" dirty="0">
              <a:solidFill>
                <a:schemeClr val="bg1">
                  <a:lumMod val="85000"/>
                </a:schemeClr>
              </a:solidFill>
            </a:endParaRPr>
          </a:p>
        </p:txBody>
      </p:sp>
      <p:sp>
        <p:nvSpPr>
          <p:cNvPr id="11" name="Rectangle à coins arrondis 10"/>
          <p:cNvSpPr/>
          <p:nvPr/>
        </p:nvSpPr>
        <p:spPr>
          <a:xfrm>
            <a:off x="3419872" y="4064868"/>
            <a:ext cx="1944216" cy="360040"/>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r" rtl="1"/>
            <a:r>
              <a:rPr lang="ar-DZ" sz="1200" dirty="0" smtClean="0">
                <a:solidFill>
                  <a:schemeClr val="bg1">
                    <a:lumMod val="85000"/>
                  </a:schemeClr>
                </a:solidFill>
              </a:rPr>
              <a:t>يوجه لواجه المعلومات الشخصية</a:t>
            </a:r>
            <a:endParaRPr lang="fr-FR" sz="1200" dirty="0">
              <a:solidFill>
                <a:schemeClr val="bg1">
                  <a:lumMod val="85000"/>
                </a:schemeClr>
              </a:solidFill>
            </a:endParaRPr>
          </a:p>
        </p:txBody>
      </p:sp>
    </p:spTree>
    <p:extLst>
      <p:ext uri="{BB962C8B-B14F-4D97-AF65-F5344CB8AC3E}">
        <p14:creationId xmlns:p14="http://schemas.microsoft.com/office/powerpoint/2010/main" val="34101315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915816" y="260649"/>
            <a:ext cx="3096344" cy="792088"/>
          </a:xfrm>
          <a:noFill/>
          <a:ln>
            <a:noFill/>
          </a:ln>
        </p:spPr>
        <p:style>
          <a:lnRef idx="0">
            <a:schemeClr val="accent1"/>
          </a:lnRef>
          <a:fillRef idx="3">
            <a:schemeClr val="accent1"/>
          </a:fillRef>
          <a:effectRef idx="3">
            <a:schemeClr val="accent1"/>
          </a:effectRef>
          <a:fontRef idx="minor">
            <a:schemeClr val="lt1"/>
          </a:fontRef>
        </p:style>
        <p:txBody>
          <a:bodyPr>
            <a:normAutofit fontScale="90000"/>
          </a:bodyPr>
          <a:lstStyle/>
          <a:p>
            <a:r>
              <a:rPr lang="ar-DZ" sz="4800" b="1" dirty="0" smtClean="0">
                <a:solidFill>
                  <a:schemeClr val="tx1"/>
                </a:solidFill>
                <a:latin typeface="Arabic Typesetting" pitchFamily="66" charset="-78"/>
                <a:cs typeface="Arabic Typesetting" pitchFamily="66" charset="-78"/>
              </a:rPr>
              <a:t>المعلومات الشخصية</a:t>
            </a:r>
            <a:endParaRPr lang="fr-FR" sz="4800" b="1" dirty="0">
              <a:solidFill>
                <a:schemeClr val="tx1"/>
              </a:solidFill>
              <a:latin typeface="Arabic Typesetting" pitchFamily="66" charset="-78"/>
              <a:cs typeface="Arabic Typesetting" pitchFamily="66" charset="-78"/>
            </a:endParaRPr>
          </a:p>
        </p:txBody>
      </p:sp>
      <p:sp>
        <p:nvSpPr>
          <p:cNvPr id="6" name="Titre 1"/>
          <p:cNvSpPr txBox="1">
            <a:spLocks/>
          </p:cNvSpPr>
          <p:nvPr/>
        </p:nvSpPr>
        <p:spPr>
          <a:xfrm>
            <a:off x="5955139" y="1196752"/>
            <a:ext cx="2880320" cy="5256584"/>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chor="b">
            <a:noAutofit/>
            <a:scene3d>
              <a:camera prst="orthographicFront"/>
              <a:lightRig rig="balanced" dir="t">
                <a:rot lat="0" lon="0" rev="2100000"/>
              </a:lightRig>
            </a:scene3d>
            <a:sp3d extrusionH="57150" prstMaterial="metal">
              <a:bevelT w="38100" h="25400"/>
              <a:contourClr>
                <a:schemeClr val="bg2"/>
              </a:contourClr>
            </a:sp3d>
          </a:bodyPr>
          <a:lstStyle>
            <a:lvl1pPr algn="ctr" defTabSz="914400" rtl="0" eaLnBrk="1" latinLnBrk="0" hangingPunct="1">
              <a:spcBef>
                <a:spcPct val="0"/>
              </a:spcBef>
              <a:buNone/>
              <a:defRPr sz="5400" kern="1200">
                <a:ln w="3175">
                  <a:solidFill>
                    <a:schemeClr val="tx1">
                      <a:alpha val="65000"/>
                    </a:schemeClr>
                  </a:solidFill>
                </a:ln>
                <a:solidFill>
                  <a:schemeClr val="tx1"/>
                </a:solidFill>
                <a:effectLst>
                  <a:outerShdw blurRad="25400" dist="12700" dir="14220000" rotWithShape="0">
                    <a:prstClr val="black">
                      <a:alpha val="50000"/>
                    </a:prstClr>
                  </a:outerShdw>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r" rtl="1"/>
            <a:r>
              <a:rPr lang="ar-DZ" sz="2800" b="1" dirty="0" smtClean="0">
                <a:ln>
                  <a:noFill/>
                </a:ln>
                <a:solidFill>
                  <a:sysClr val="windowText" lastClr="000000"/>
                </a:solidFill>
                <a:effectLst/>
                <a:latin typeface="Arabic Typesetting" pitchFamily="66" charset="-78"/>
                <a:cs typeface="Arabic Typesetting" pitchFamily="66" charset="-78"/>
              </a:rPr>
              <a:t>الاسم:</a:t>
            </a:r>
          </a:p>
          <a:p>
            <a:pPr algn="r" rtl="1"/>
            <a:r>
              <a:rPr lang="ar-DZ" sz="2800" b="1" dirty="0" smtClean="0">
                <a:ln>
                  <a:noFill/>
                </a:ln>
                <a:solidFill>
                  <a:sysClr val="windowText" lastClr="000000"/>
                </a:solidFill>
                <a:effectLst/>
                <a:latin typeface="Arabic Typesetting" pitchFamily="66" charset="-78"/>
                <a:cs typeface="Arabic Typesetting" pitchFamily="66" charset="-78"/>
              </a:rPr>
              <a:t>اللقب:</a:t>
            </a:r>
          </a:p>
          <a:p>
            <a:pPr algn="r" rtl="1"/>
            <a:r>
              <a:rPr lang="ar-DZ" sz="2800" b="1" dirty="0" smtClean="0">
                <a:ln>
                  <a:noFill/>
                </a:ln>
                <a:solidFill>
                  <a:sysClr val="windowText" lastClr="000000"/>
                </a:solidFill>
                <a:effectLst/>
                <a:latin typeface="Arabic Typesetting" pitchFamily="66" charset="-78"/>
                <a:cs typeface="Arabic Typesetting" pitchFamily="66" charset="-78"/>
              </a:rPr>
              <a:t>الجنس:</a:t>
            </a:r>
          </a:p>
          <a:p>
            <a:pPr algn="r" rtl="1"/>
            <a:r>
              <a:rPr lang="ar-DZ" sz="2800" b="1" dirty="0" smtClean="0">
                <a:ln>
                  <a:noFill/>
                </a:ln>
                <a:solidFill>
                  <a:sysClr val="windowText" lastClr="000000"/>
                </a:solidFill>
                <a:effectLst/>
                <a:latin typeface="Arabic Typesetting" pitchFamily="66" charset="-78"/>
                <a:cs typeface="Arabic Typesetting" pitchFamily="66" charset="-78"/>
              </a:rPr>
              <a:t>تاريخ الميلاد:</a:t>
            </a:r>
            <a:endParaRPr lang="fr-FR" sz="2800" b="1" dirty="0" smtClean="0">
              <a:ln>
                <a:noFill/>
              </a:ln>
              <a:solidFill>
                <a:sysClr val="windowText" lastClr="000000"/>
              </a:solidFill>
              <a:effectLst/>
              <a:latin typeface="Arabic Typesetting" pitchFamily="66" charset="-78"/>
              <a:cs typeface="Arabic Typesetting" pitchFamily="66" charset="-78"/>
            </a:endParaRPr>
          </a:p>
          <a:p>
            <a:pPr algn="r" rtl="1"/>
            <a:r>
              <a:rPr lang="ar-DZ" sz="2800" b="1" dirty="0">
                <a:ln>
                  <a:noFill/>
                </a:ln>
                <a:solidFill>
                  <a:sysClr val="windowText" lastClr="000000"/>
                </a:solidFill>
                <a:effectLst/>
                <a:latin typeface="Arabic Typesetting" pitchFamily="66" charset="-78"/>
                <a:cs typeface="Arabic Typesetting" pitchFamily="66" charset="-78"/>
              </a:rPr>
              <a:t>المستوى الدراسي:</a:t>
            </a:r>
          </a:p>
          <a:p>
            <a:pPr algn="r" rtl="1"/>
            <a:r>
              <a:rPr lang="ar-DZ" sz="2800" b="1" dirty="0" smtClean="0">
                <a:ln>
                  <a:noFill/>
                </a:ln>
                <a:effectLst/>
                <a:latin typeface="Arabic Typesetting" pitchFamily="66" charset="-78"/>
                <a:cs typeface="Arabic Typesetting" pitchFamily="66" charset="-78"/>
              </a:rPr>
              <a:t>نوع الحبسة:</a:t>
            </a:r>
            <a:endParaRPr lang="fr-FR" sz="2800" b="1" dirty="0" smtClean="0">
              <a:ln>
                <a:noFill/>
              </a:ln>
              <a:effectLst/>
              <a:latin typeface="Arabic Typesetting" pitchFamily="66" charset="-78"/>
              <a:cs typeface="Arabic Typesetting" pitchFamily="66" charset="-78"/>
            </a:endParaRPr>
          </a:p>
          <a:p>
            <a:pPr algn="r" rtl="1"/>
            <a:r>
              <a:rPr lang="ar-DZ" sz="2800" b="1" dirty="0">
                <a:ln>
                  <a:noFill/>
                </a:ln>
                <a:effectLst/>
                <a:latin typeface="Arabic Typesetting" pitchFamily="66" charset="-78"/>
                <a:cs typeface="Arabic Typesetting" pitchFamily="66" charset="-78"/>
              </a:rPr>
              <a:t>تاريخ الاصابة:</a:t>
            </a:r>
          </a:p>
          <a:p>
            <a:pPr algn="r" rtl="1"/>
            <a:r>
              <a:rPr lang="ar-DZ" sz="2800" b="1" dirty="0" smtClean="0">
                <a:ln>
                  <a:noFill/>
                </a:ln>
                <a:solidFill>
                  <a:sysClr val="windowText" lastClr="000000"/>
                </a:solidFill>
                <a:effectLst/>
                <a:latin typeface="Arabic Typesetting" pitchFamily="66" charset="-78"/>
                <a:cs typeface="Arabic Typesetting" pitchFamily="66" charset="-78"/>
              </a:rPr>
              <a:t>تاريخ اجراء التقييم:</a:t>
            </a:r>
          </a:p>
          <a:p>
            <a:pPr algn="r" rtl="1"/>
            <a:r>
              <a:rPr lang="ar-DZ" sz="2800" b="1" dirty="0" smtClean="0">
                <a:ln>
                  <a:noFill/>
                </a:ln>
                <a:solidFill>
                  <a:sysClr val="windowText" lastClr="000000"/>
                </a:solidFill>
                <a:effectLst/>
                <a:latin typeface="Arabic Typesetting" pitchFamily="66" charset="-78"/>
                <a:cs typeface="Arabic Typesetting" pitchFamily="66" charset="-78"/>
              </a:rPr>
              <a:t>العنوان:</a:t>
            </a:r>
            <a:endParaRPr lang="ar-DZ" sz="2800" b="1" dirty="0">
              <a:ln>
                <a:noFill/>
              </a:ln>
              <a:solidFill>
                <a:sysClr val="windowText" lastClr="000000"/>
              </a:solidFill>
              <a:effectLst/>
              <a:latin typeface="Arabic Typesetting" pitchFamily="66" charset="-78"/>
              <a:cs typeface="Arabic Typesetting" pitchFamily="66" charset="-78"/>
            </a:endParaRPr>
          </a:p>
          <a:p>
            <a:pPr algn="r" rtl="1"/>
            <a:r>
              <a:rPr lang="ar-DZ" sz="2800" b="1" dirty="0" smtClean="0">
                <a:ln>
                  <a:noFill/>
                </a:ln>
                <a:solidFill>
                  <a:sysClr val="windowText" lastClr="000000"/>
                </a:solidFill>
                <a:effectLst/>
                <a:latin typeface="Arabic Typesetting" pitchFamily="66" charset="-78"/>
                <a:cs typeface="Arabic Typesetting" pitchFamily="66" charset="-78"/>
              </a:rPr>
              <a:t>رقم الهاتف:</a:t>
            </a:r>
            <a:endParaRPr lang="fr-FR" sz="2800" b="1" dirty="0" smtClean="0">
              <a:ln>
                <a:noFill/>
              </a:ln>
              <a:solidFill>
                <a:sysClr val="windowText" lastClr="000000"/>
              </a:solidFill>
              <a:effectLst/>
              <a:latin typeface="Arabic Typesetting" pitchFamily="66" charset="-78"/>
              <a:cs typeface="Arabic Typesetting" pitchFamily="66" charset="-78"/>
            </a:endParaRPr>
          </a:p>
          <a:p>
            <a:pPr algn="r" rtl="1"/>
            <a:endParaRPr lang="ar-DZ" sz="2800" b="1" dirty="0" smtClean="0">
              <a:ln>
                <a:noFill/>
              </a:ln>
              <a:solidFill>
                <a:sysClr val="windowText" lastClr="000000"/>
              </a:solidFill>
              <a:effectLst/>
              <a:latin typeface="Arabic Typesetting" pitchFamily="66" charset="-78"/>
              <a:cs typeface="Arabic Typesetting" pitchFamily="66" charset="-78"/>
            </a:endParaRPr>
          </a:p>
          <a:p>
            <a:pPr algn="r" rtl="1"/>
            <a:endParaRPr lang="fr-FR" sz="2800" dirty="0">
              <a:ln w="50800"/>
              <a:solidFill>
                <a:schemeClr val="bg1">
                  <a:shade val="50000"/>
                </a:schemeClr>
              </a:solidFill>
              <a:effectLst/>
              <a:latin typeface="Arabic Typesetting" pitchFamily="66" charset="-78"/>
              <a:cs typeface="Arabic Typesetting" pitchFamily="66" charset="-78"/>
            </a:endParaRPr>
          </a:p>
        </p:txBody>
      </p:sp>
      <p:pic>
        <p:nvPicPr>
          <p:cNvPr id="5" name="Picture 6" descr="C:\Users\Oussama\Desktop\mem2022\tools\img\green-start-button-png-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7904" y="5193336"/>
            <a:ext cx="1260000" cy="1260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à coins arrondis 6"/>
          <p:cNvSpPr/>
          <p:nvPr/>
        </p:nvSpPr>
        <p:spPr>
          <a:xfrm>
            <a:off x="5061069" y="1340769"/>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ar-DZ" sz="1200" dirty="0" smtClean="0">
                <a:solidFill>
                  <a:schemeClr val="bg1">
                    <a:lumMod val="85000"/>
                  </a:schemeClr>
                </a:solidFill>
              </a:rPr>
              <a:t>اجباري</a:t>
            </a:r>
            <a:endParaRPr lang="fr-FR" sz="1200" dirty="0">
              <a:solidFill>
                <a:schemeClr val="bg1">
                  <a:lumMod val="85000"/>
                </a:schemeClr>
              </a:solidFill>
            </a:endParaRPr>
          </a:p>
        </p:txBody>
      </p:sp>
      <p:sp>
        <p:nvSpPr>
          <p:cNvPr id="8" name="Rectangle à coins arrondis 7"/>
          <p:cNvSpPr/>
          <p:nvPr/>
        </p:nvSpPr>
        <p:spPr>
          <a:xfrm>
            <a:off x="5061069" y="1772817"/>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lvl="0" algn="ctr"/>
            <a:r>
              <a:rPr lang="ar-DZ" sz="1200" dirty="0" smtClean="0">
                <a:solidFill>
                  <a:prstClr val="white">
                    <a:lumMod val="85000"/>
                  </a:prstClr>
                </a:solidFill>
              </a:rPr>
              <a:t>اجباري</a:t>
            </a:r>
            <a:endParaRPr lang="fr-FR" sz="1200" dirty="0">
              <a:solidFill>
                <a:prstClr val="white">
                  <a:lumMod val="85000"/>
                </a:prstClr>
              </a:solidFill>
            </a:endParaRPr>
          </a:p>
        </p:txBody>
      </p:sp>
      <p:sp>
        <p:nvSpPr>
          <p:cNvPr id="9" name="Rectangle à coins arrondis 8"/>
          <p:cNvSpPr/>
          <p:nvPr/>
        </p:nvSpPr>
        <p:spPr>
          <a:xfrm>
            <a:off x="5061069" y="2204865"/>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lvl="0" algn="ctr"/>
            <a:r>
              <a:rPr lang="ar-DZ" sz="1200" dirty="0" smtClean="0">
                <a:solidFill>
                  <a:prstClr val="white">
                    <a:lumMod val="85000"/>
                  </a:prstClr>
                </a:solidFill>
              </a:rPr>
              <a:t>اجباري</a:t>
            </a:r>
            <a:endParaRPr lang="fr-FR" sz="1200" dirty="0">
              <a:solidFill>
                <a:prstClr val="white">
                  <a:lumMod val="85000"/>
                </a:prstClr>
              </a:solidFill>
            </a:endParaRPr>
          </a:p>
        </p:txBody>
      </p:sp>
      <p:sp>
        <p:nvSpPr>
          <p:cNvPr id="10" name="Rectangle à coins arrondis 9"/>
          <p:cNvSpPr/>
          <p:nvPr/>
        </p:nvSpPr>
        <p:spPr>
          <a:xfrm>
            <a:off x="5061069" y="2636913"/>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lvl="0" algn="ctr"/>
            <a:r>
              <a:rPr lang="ar-DZ" sz="1200" dirty="0" smtClean="0">
                <a:solidFill>
                  <a:prstClr val="white">
                    <a:lumMod val="85000"/>
                  </a:prstClr>
                </a:solidFill>
              </a:rPr>
              <a:t>اجباري</a:t>
            </a:r>
            <a:endParaRPr lang="fr-FR" sz="1200" dirty="0">
              <a:solidFill>
                <a:prstClr val="white">
                  <a:lumMod val="85000"/>
                </a:prstClr>
              </a:solidFill>
            </a:endParaRPr>
          </a:p>
        </p:txBody>
      </p:sp>
      <p:sp>
        <p:nvSpPr>
          <p:cNvPr id="11" name="Rectangle à coins arrondis 10"/>
          <p:cNvSpPr/>
          <p:nvPr/>
        </p:nvSpPr>
        <p:spPr>
          <a:xfrm>
            <a:off x="5061069" y="3068961"/>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lvl="0" algn="ctr"/>
            <a:r>
              <a:rPr lang="ar-DZ" sz="1200" dirty="0" smtClean="0">
                <a:solidFill>
                  <a:prstClr val="white">
                    <a:lumMod val="85000"/>
                  </a:prstClr>
                </a:solidFill>
              </a:rPr>
              <a:t>اجباري</a:t>
            </a:r>
            <a:endParaRPr lang="fr-FR" sz="1200" dirty="0">
              <a:solidFill>
                <a:prstClr val="white">
                  <a:lumMod val="85000"/>
                </a:prstClr>
              </a:solidFill>
            </a:endParaRPr>
          </a:p>
        </p:txBody>
      </p:sp>
      <p:sp>
        <p:nvSpPr>
          <p:cNvPr id="12" name="Rectangle à coins arrondis 11"/>
          <p:cNvSpPr/>
          <p:nvPr/>
        </p:nvSpPr>
        <p:spPr>
          <a:xfrm>
            <a:off x="5076056" y="3501009"/>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lvl="0" algn="ctr"/>
            <a:endParaRPr lang="fr-FR" sz="1200" dirty="0">
              <a:solidFill>
                <a:prstClr val="white">
                  <a:lumMod val="85000"/>
                </a:prstClr>
              </a:solidFill>
            </a:endParaRPr>
          </a:p>
        </p:txBody>
      </p:sp>
      <p:sp>
        <p:nvSpPr>
          <p:cNvPr id="13" name="Rectangle à coins arrondis 12"/>
          <p:cNvSpPr/>
          <p:nvPr/>
        </p:nvSpPr>
        <p:spPr>
          <a:xfrm>
            <a:off x="5076056" y="4797153"/>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fr-FR" dirty="0"/>
          </a:p>
        </p:txBody>
      </p:sp>
      <p:sp>
        <p:nvSpPr>
          <p:cNvPr id="15" name="Rectangle à coins arrondis 14"/>
          <p:cNvSpPr/>
          <p:nvPr/>
        </p:nvSpPr>
        <p:spPr>
          <a:xfrm>
            <a:off x="5061069" y="4365105"/>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r" rtl="1"/>
            <a:r>
              <a:rPr lang="ar-DZ" dirty="0">
                <a:solidFill>
                  <a:schemeClr val="bg1">
                    <a:lumMod val="65000"/>
                  </a:schemeClr>
                </a:solidFill>
                <a:latin typeface="Arabic Typesetting" pitchFamily="66" charset="-78"/>
                <a:cs typeface="Arabic Typesetting" pitchFamily="66" charset="-78"/>
              </a:rPr>
              <a:t>ت</a:t>
            </a:r>
            <a:r>
              <a:rPr lang="ar-DZ" dirty="0" smtClean="0">
                <a:solidFill>
                  <a:schemeClr val="bg1">
                    <a:lumMod val="65000"/>
                  </a:schemeClr>
                </a:solidFill>
                <a:latin typeface="Arabic Typesetting" pitchFamily="66" charset="-78"/>
                <a:cs typeface="Arabic Typesetting" pitchFamily="66" charset="-78"/>
              </a:rPr>
              <a:t>اريخ اليوم</a:t>
            </a:r>
            <a:endParaRPr lang="fr-FR" dirty="0">
              <a:solidFill>
                <a:schemeClr val="bg1">
                  <a:lumMod val="65000"/>
                </a:schemeClr>
              </a:solidFill>
            </a:endParaRPr>
          </a:p>
        </p:txBody>
      </p:sp>
      <p:sp>
        <p:nvSpPr>
          <p:cNvPr id="16" name="Rectangle à coins arrondis 15"/>
          <p:cNvSpPr/>
          <p:nvPr/>
        </p:nvSpPr>
        <p:spPr>
          <a:xfrm>
            <a:off x="5061069" y="3933057"/>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r"/>
            <a:endParaRPr lang="fr-FR" dirty="0">
              <a:solidFill>
                <a:schemeClr val="bg1">
                  <a:lumMod val="65000"/>
                </a:schemeClr>
              </a:solidFill>
            </a:endParaRPr>
          </a:p>
        </p:txBody>
      </p:sp>
      <p:sp>
        <p:nvSpPr>
          <p:cNvPr id="18" name="Rectangle à coins arrondis 17"/>
          <p:cNvSpPr/>
          <p:nvPr/>
        </p:nvSpPr>
        <p:spPr>
          <a:xfrm>
            <a:off x="5076056" y="5229201"/>
            <a:ext cx="2103219" cy="36004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fr-FR" dirty="0"/>
          </a:p>
        </p:txBody>
      </p:sp>
      <p:sp>
        <p:nvSpPr>
          <p:cNvPr id="17" name="Rectangle à coins arrondis 16"/>
          <p:cNvSpPr/>
          <p:nvPr/>
        </p:nvSpPr>
        <p:spPr>
          <a:xfrm>
            <a:off x="971600" y="4437112"/>
            <a:ext cx="3974049" cy="360040"/>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r" rtl="1"/>
            <a:r>
              <a:rPr lang="ar-DZ" dirty="0">
                <a:solidFill>
                  <a:schemeClr val="tx1"/>
                </a:solidFill>
                <a:latin typeface="Arabic Typesetting" pitchFamily="66" charset="-78"/>
                <a:cs typeface="Arabic Typesetting" pitchFamily="66" charset="-78"/>
              </a:rPr>
              <a:t>ت</a:t>
            </a:r>
            <a:r>
              <a:rPr lang="ar-DZ" dirty="0" smtClean="0">
                <a:solidFill>
                  <a:schemeClr val="tx1"/>
                </a:solidFill>
                <a:latin typeface="Arabic Typesetting" pitchFamily="66" charset="-78"/>
                <a:cs typeface="Arabic Typesetting" pitchFamily="66" charset="-78"/>
              </a:rPr>
              <a:t>اريخ اليوم</a:t>
            </a:r>
            <a:r>
              <a:rPr lang="en-US" dirty="0" smtClean="0">
                <a:solidFill>
                  <a:schemeClr val="tx1"/>
                </a:solidFill>
                <a:latin typeface="Arabic Typesetting" pitchFamily="66" charset="-78"/>
                <a:cs typeface="Arabic Typesetting" pitchFamily="66" charset="-78"/>
              </a:rPr>
              <a:t> </a:t>
            </a:r>
            <a:r>
              <a:rPr lang="ar-DZ" dirty="0" smtClean="0">
                <a:solidFill>
                  <a:schemeClr val="tx1"/>
                </a:solidFill>
                <a:latin typeface="Arabic Typesetting" pitchFamily="66" charset="-78"/>
                <a:cs typeface="Arabic Typesetting" pitchFamily="66" charset="-78"/>
              </a:rPr>
              <a:t>لا يجب ظهوره في الواجهة - تلقائيا تاريخ الدخول لاجراء الاختبار</a:t>
            </a:r>
            <a:endParaRPr lang="fr-FR" dirty="0">
              <a:solidFill>
                <a:schemeClr val="tx1"/>
              </a:solidFill>
            </a:endParaRPr>
          </a:p>
        </p:txBody>
      </p:sp>
      <p:sp>
        <p:nvSpPr>
          <p:cNvPr id="20" name="Rectangle à coins arrondis 19"/>
          <p:cNvSpPr/>
          <p:nvPr/>
        </p:nvSpPr>
        <p:spPr>
          <a:xfrm>
            <a:off x="3491880" y="2636912"/>
            <a:ext cx="1512168" cy="360040"/>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r" rtl="1"/>
            <a:r>
              <a:rPr lang="ar-DZ" dirty="0" smtClean="0">
                <a:solidFill>
                  <a:schemeClr val="tx1"/>
                </a:solidFill>
                <a:latin typeface="Arabic Typesetting" pitchFamily="66" charset="-78"/>
                <a:cs typeface="Arabic Typesetting" pitchFamily="66" charset="-78"/>
              </a:rPr>
              <a:t>قوائم منسدلة ببحجم صغير</a:t>
            </a:r>
            <a:endParaRPr lang="fr-FR" dirty="0">
              <a:solidFill>
                <a:schemeClr val="tx1"/>
              </a:solidFill>
            </a:endParaRPr>
          </a:p>
        </p:txBody>
      </p:sp>
      <p:sp>
        <p:nvSpPr>
          <p:cNvPr id="21" name="Rectangle à coins arrondis 20"/>
          <p:cNvSpPr/>
          <p:nvPr/>
        </p:nvSpPr>
        <p:spPr>
          <a:xfrm>
            <a:off x="3419872" y="4005064"/>
            <a:ext cx="1512168" cy="360040"/>
          </a:xfrm>
          <a:prstGeom prst="round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r" rtl="1"/>
            <a:r>
              <a:rPr lang="ar-DZ" dirty="0" smtClean="0">
                <a:solidFill>
                  <a:schemeClr val="tx1"/>
                </a:solidFill>
                <a:latin typeface="Arabic Typesetting" pitchFamily="66" charset="-78"/>
                <a:cs typeface="Arabic Typesetting" pitchFamily="66" charset="-78"/>
              </a:rPr>
              <a:t>قوائم منسدلة ببحجم صغير</a:t>
            </a:r>
            <a:endParaRPr lang="fr-FR" dirty="0">
              <a:solidFill>
                <a:schemeClr val="tx1"/>
              </a:solidFill>
            </a:endParaRPr>
          </a:p>
        </p:txBody>
      </p:sp>
    </p:spTree>
    <p:extLst>
      <p:ext uri="{BB962C8B-B14F-4D97-AF65-F5344CB8AC3E}">
        <p14:creationId xmlns:p14="http://schemas.microsoft.com/office/powerpoint/2010/main" val="22333823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2339752" y="2545146"/>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lvl="0" algn="ctr" rtl="1">
              <a:spcBef>
                <a:spcPts val="0"/>
              </a:spcBef>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فهم التعليمة</a:t>
            </a:r>
          </a:p>
          <a:p>
            <a:pPr lvl="0" algn="ctr" rtl="1">
              <a:spcBef>
                <a:spcPts val="0"/>
              </a:spcBef>
            </a:pP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a:t>
            </a:r>
            <a:r>
              <a:rPr lang="ar-DZ"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لا تظهر في التطبيق</a:t>
            </a: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a:t>
            </a:r>
            <a:endParaRPr lang="fr-FR"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endParaRPr>
          </a:p>
        </p:txBody>
      </p:sp>
    </p:spTree>
    <p:extLst>
      <p:ext uri="{BB962C8B-B14F-4D97-AF65-F5344CB8AC3E}">
        <p14:creationId xmlns:p14="http://schemas.microsoft.com/office/powerpoint/2010/main" val="19778650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85000" lnSpcReduction="1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059832" y="1700569"/>
            <a:ext cx="2736304" cy="115236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115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كَـلْـبٌ</a:t>
            </a:r>
            <a:endParaRPr lang="fr-FR" sz="115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3074" name="Picture 2" descr="C:\Users\Oussama\Desktop\mem2022\tools\img\Nouveau dossier\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92480" y="2852936"/>
            <a:ext cx="2700000" cy="270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5" name="Picture 3" descr="C:\Users\Oussama\Desktop\mem2022\tools\img\Nouveau dossier\1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136" y="2872854"/>
            <a:ext cx="2700000" cy="270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 name="Picture 7" descr="C:\Users\Oussama\Desktop\mem2022\tools\img\Nouveau dossier\26-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12160" y="2852936"/>
            <a:ext cx="2700000" cy="270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6369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2339752" y="2545146"/>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lvl="0" algn="ctr" rtl="1">
              <a:spcBef>
                <a:spcPts val="0"/>
              </a:spcBef>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فهم الكلمة</a:t>
            </a:r>
          </a:p>
          <a:p>
            <a:pPr lvl="0" algn="ctr" rtl="1">
              <a:spcBef>
                <a:spcPts val="0"/>
              </a:spcBef>
            </a:pP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a:t>
            </a:r>
            <a:r>
              <a:rPr lang="ar-DZ"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لا تظهر في التطبيق</a:t>
            </a: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a:t>
            </a:r>
            <a:endParaRPr lang="fr-FR"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endParaRPr>
          </a:p>
        </p:txBody>
      </p:sp>
    </p:spTree>
    <p:extLst>
      <p:ext uri="{BB962C8B-B14F-4D97-AF65-F5344CB8AC3E}">
        <p14:creationId xmlns:p14="http://schemas.microsoft.com/office/powerpoint/2010/main" val="14247201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1-اختر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347864" y="1196752"/>
            <a:ext cx="2376264" cy="115236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نَخْلَةٌ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0" name="Picture 2" descr="C:\Users\Oussama\Desktop\mem2022\tools\img\Nouveau dossier\1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0232" y="450912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1" name="Picture 3" descr="C:\Users\Oussama\Desktop\mem2022\tools\img\Nouveau dossier\1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0232"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2" name="Picture 4" descr="C:\Users\Oussama\Desktop\mem2022\tools\img\Nouveau dossier\1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6256"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3" name="Picture 5" descr="C:\Users\Oussama\Desktop\mem2022\tools\img\Nouveau dossier\20.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16256"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0712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1-اختر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059832" y="1412777"/>
            <a:ext cx="2376264"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جَمَلٌ</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26" name="Picture 2" descr="C:\Users\Oussama\Desktop\mem2022\tools\img\Nouveau dossier\3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7984"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Oussama\Desktop\mem2022\tools\img\Nouveau dossier\3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9952" y="4496865"/>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C:\Users\Oussama\Desktop\mem2022\tools\img\Nouveau dossier\3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7984" y="221050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9" name="Picture 5" descr="C:\Users\Oussama\Desktop\mem2022\tools\img\Nouveau dossier\39.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79712"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1286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1-اختر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347864" y="1196752"/>
            <a:ext cx="2376264" cy="115236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نَحْلَةٌ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0" name="Picture 2" descr="C:\Users\Oussama\Desktop\mem2022\tools\img\Nouveau dossier\1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0232" y="450912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1" name="Picture 3" descr="C:\Users\Oussama\Desktop\mem2022\tools\img\Nouveau dossier\1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0232"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2" name="Picture 4" descr="C:\Users\Oussama\Desktop\mem2022\tools\img\Nouveau dossier\1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6256"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3" name="Picture 5" descr="C:\Users\Oussama\Desktop\mem2022\tools\img\Nouveau dossier\20.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16256"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0537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1-اختر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059832" y="1412777"/>
            <a:ext cx="2376264"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رَجُلٌ</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31" name="Picture 7" descr="C:\Users\Oussama\Desktop\mem2022\tools\img\Nouveau dossier\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4088" y="4509120"/>
            <a:ext cx="2160000" cy="2160000"/>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pic>
        <p:nvPicPr>
          <p:cNvPr id="1032" name="Picture 8" descr="C:\Users\Oussama\Desktop\mem2022\tools\img\Nouveau dossier\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0112" y="2204864"/>
            <a:ext cx="2160000" cy="2160000"/>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pic>
        <p:nvPicPr>
          <p:cNvPr id="1033" name="Picture 9" descr="C:\Users\Oussama\Desktop\mem2022\tools\img\Nouveau dossier\3.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0352" y="4509120"/>
            <a:ext cx="2160000" cy="2160000"/>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pic>
        <p:nvPicPr>
          <p:cNvPr id="1034" name="Picture 10" descr="C:\Users\Oussama\Desktop\mem2022\tools\img\Nouveau dossier\4.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03848" y="2204864"/>
            <a:ext cx="2160000" cy="2160000"/>
          </a:xfrm>
          <a:prstGeom prst="rect">
            <a:avLst/>
          </a:prstGeom>
          <a:ln>
            <a:solidFill>
              <a:schemeClr val="tx1"/>
            </a:solidFill>
          </a:ln>
          <a:effectLst/>
          <a:extLst>
            <a:ext uri="{909E8E84-426E-40DD-AFC4-6F175D3DCCD1}">
              <a14:hiddenFill xmlns:a14="http://schemas.microsoft.com/office/drawing/2010/main">
                <a:solidFill>
                  <a:srgbClr val="FFFFFF"/>
                </a:solidFill>
              </a14:hiddenFill>
            </a:ext>
          </a:extLst>
        </p:spPr>
      </p:pic>
      <p:pic>
        <p:nvPicPr>
          <p:cNvPr id="2050" name="Picture 2" descr="C:\Users\Oussama\Desktop\mem2022\tools\img\Nouveau dossier\19-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7584" y="450912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 name="Picture 2" descr="C:\Users\Oussama\Desktop\mem2022\tools\img\1\29.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7584"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0099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1979712" y="836713"/>
            <a:ext cx="4824536" cy="115236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مسجد</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5" name="Picture 3" descr="C:\Users\Oussama\Desktop\mem2022\tools\img\6\g2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6016" y="191179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6" name="Picture 2" descr="C:\Users\Oussama\Desktop\mem2022\tools\img\1\b1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1000" y="191179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C:\Users\Oussama\Desktop\mem2022\tools\img\1\b18.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6016" y="436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9" name="Picture 5" descr="C:\Users\Oussama\Desktop\mem2022\tools\img\1\b19.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12400" y="191683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 name="Picture 6" descr="C:\Users\Oussama\Desktop\mem2022\tools\img\4\p5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12400" y="436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1" name="Picture 2" descr="C:\Users\Oussama\Desktop\mem2022\tools\img\3\p42.jpg"/>
          <p:cNvPicPr>
            <a:picLocks noChangeAspect="1" noChangeArrowheads="1"/>
          </p:cNvPicPr>
          <p:nvPr/>
        </p:nvPicPr>
        <p:blipFill>
          <a:blip r:embed="rId7" cstate="print">
            <a:extLst>
              <a:ext uri="{BEBA8EAE-BF5A-486C-A8C5-ECC9F3942E4B}">
                <a14:imgProps xmlns:a14="http://schemas.microsoft.com/office/drawing/2010/main">
                  <a14:imgLayer r:embed="rId8">
                    <a14:imgEffect>
                      <a14:sharpenSoften amount="77000"/>
                    </a14:imgEffect>
                  </a14:imgLayer>
                </a14:imgProps>
              </a:ext>
              <a:ext uri="{28A0092B-C50C-407E-A947-70E740481C1C}">
                <a14:useLocalDpi xmlns:a14="http://schemas.microsoft.com/office/drawing/2010/main" val="0"/>
              </a:ext>
            </a:extLst>
          </a:blip>
          <a:srcRect/>
          <a:stretch>
            <a:fillRect/>
          </a:stretch>
        </p:blipFill>
        <p:spPr bwMode="auto">
          <a:xfrm>
            <a:off x="1226475" y="436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9716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1-اختر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347864" y="1196752"/>
            <a:ext cx="2376264" cy="115236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8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كمامَةٌ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26" name="Picture 2" descr="C:\Users\Oussama\Desktop\mem2022\tools\img\Nouveau dossier\4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392" y="220462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Oussama\Desktop\mem2022\tools\img\Nouveau dossier\4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4128" y="449104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C:\Users\Oussama\Desktop\mem2022\tools\img\Nouveau dossier\4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0869" y="220462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4" name="Picture 2" descr="C:\Users\Oussama\Desktop\mem2022\tools\img\3\38.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75669" y="449104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 name="Picture 2" descr="C:\Users\Oussama\Desktop\mem2022\tools\img\1\b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4128" y="220462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Picture 2" descr="C:\Users\Oussama\Desktop\memoire 2022\mem2022\sawca1\p6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40392" y="450912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9932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1"/>
            <a:ext cx="4032448" cy="69269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1-اختر الصورة الموافقة للكلمة المكتوبة</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419872" y="332416"/>
            <a:ext cx="2376264" cy="115236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طائرة</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2" name="Picture 4" descr="C:\Users\Oussama\Desktop\mem2022\tools\img\4\p4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4168" y="1665072"/>
            <a:ext cx="2412000" cy="2412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2054" name="Picture 6" descr="C:\Users\Oussama\Desktop\mem2022\tools\img\4\6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584" y="1665072"/>
            <a:ext cx="2412000" cy="2412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2055" name="Picture 7" descr="C:\Users\Oussama\Desktop\mem2022\tools\img\4\i3.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6424" y="4257360"/>
            <a:ext cx="2412000" cy="2412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2056" name="Picture 8" descr="C:\Users\Oussama\Desktop\mem2022\tools\img\4\i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84168" y="4257080"/>
            <a:ext cx="2412000" cy="2412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7" name="Picture 9" descr="C:\Users\Oussama\Desktop\mem2022\tools\img\4\p13.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7584" y="4257360"/>
            <a:ext cx="2412000" cy="2412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098" name="Picture 2" descr="C:\Users\Oussama\Desktop\mem2022\tools\img\1\b2.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91880" y="1665072"/>
            <a:ext cx="2412000" cy="2412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9922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حلاق</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4105" name="Picture 9" descr="C:\Users\Oussama\Desktop\mem2022\tools\img\4\p3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63888" y="436846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5" name="Picture 3" descr="C:\Users\Oussama\Desktop\mem2022\tools\img\6\I3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856" y="436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6" name="Picture 4" descr="C:\Users\Oussama\Desktop\mem2022\tools\img\6\I29.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5856"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 name="Picture 3" descr="C:\Users\Oussama\Desktop\mem2022\tools\img\4\p24.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12400" y="436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6" name="Picture 2" descr="C:\Users\Oussama\Desktop\mem2022\tools\img\1\b3.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4128" y="2011611"/>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 name="Picture 2" descr="C:\Users\Oussama\Desktop\mem2022\tools\img\1\g28.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12400"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4439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1-اختر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347864" y="1052737"/>
            <a:ext cx="2376264" cy="115236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شَاحِنٌ</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5" name="Picture 3" descr="C:\Users\Oussama\Desktop\mem2022\tools\img\4\p1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64128" y="4491046"/>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6" name="Picture 4" descr="C:\Users\Oussama\Desktop\mem2022\tools\img\4\p1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864" y="2132856"/>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29" name="Picture 5" descr="C:\Users\Oussama\Desktop\mem2022\tools\img\4\p35.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40392" y="2156705"/>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30" name="Picture 6" descr="C:\Users\Oussama\Desktop\mem2022\tools\img\4\p8.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64128" y="2140317"/>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31" name="Picture 7" descr="C:\Users\Oussama\Desktop\mem2022\tools\img\4\p9.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19569" y="4491046"/>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sp>
        <p:nvSpPr>
          <p:cNvPr id="9" name="Étoile à 5 branches 8"/>
          <p:cNvSpPr/>
          <p:nvPr/>
        </p:nvSpPr>
        <p:spPr>
          <a:xfrm>
            <a:off x="899592" y="440668"/>
            <a:ext cx="1800200" cy="1620180"/>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descr="C:\Users\Oussama\Desktop\mem2022\tools\img\coloring-book-kids-power-extension-cord-children-181256514.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89488" y="449104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7292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699792" y="1124745"/>
            <a:ext cx="3528392"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جالس</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1" name="Picture 3" descr="C:\Users\Oussama\Desktop\mem2022\tools\img\4\6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4437112"/>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2054" name="Picture 6" descr="C:\Users\Oussama\Desktop\mem2022\tools\img\4\5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2060848"/>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 name="Picture 2" descr="C:\Users\Oussama\Desktop\mem2022\tools\img\4\43.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8144" y="44371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Oussama\Desktop\mem2022\tools\img\4\I56.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68144" y="2060848"/>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3074" name="Picture 2" descr="C:\Users\Oussama\Desktop\mem2022\tools\img\6\i22.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91880" y="44373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5" name="Picture 3" descr="C:\Users\Oussama\Desktop\mem2022\tools\img\3\56.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15616" y="206084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8582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طويل</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0" name="Picture 2" descr="C:\Users\Oussama\Desktop\mem2022\tools\img\6\i2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56416" y="2224319"/>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1" name="Picture 3" descr="C:\Users\Oussama\Desktop\mem2022\tools\img\6\i2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416" y="453124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3" name="Picture 5" descr="C:\Users\Oussama\Desktop\mem2022\tools\img\3\66-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5896"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6" name="Picture 2" descr="C:\Users\Oussama\Desktop\mem2022\tools\img\6\g19.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5616"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Oussama\Desktop\mem2022\tools\img\6\g18.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5616" y="453124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C:\Users\Oussama\Desktop\mem2022\tools\img\1\p3.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6016" y="4485225"/>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3937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للكلمة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1979712" y="836713"/>
            <a:ext cx="4824536" cy="115236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غاضبة</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1" name="Picture 3" descr="C:\Users\Oussama\Desktop\mem2022\tools\img\Nouveau dossier\6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1880" y="436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3" name="Picture 5" descr="C:\Users\Oussama\Desktop\mem2022\tools\img\Nouveau dossier\7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608" y="2079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6" name="Picture 2" descr="C:\Users\Oussama\Desktop\mem2022\tools\img\6\p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91880" y="2060848"/>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Oussama\Desktop\mem2022\tools\img\6\p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40152" y="4384864"/>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4098" name="Picture 2" descr="C:\Users\Oussama\Desktop\mem2022\tools\img\6\g15.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20439" y="198908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099" name="Picture 3" descr="C:\Users\Oussama\Desktop\mem2022\tools\img\6\g16.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06608" y="44373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1294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2</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4499992" y="3212977"/>
            <a:ext cx="2520280"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جارة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1799693" y="5008381"/>
            <a:ext cx="2461151"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حجرة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9" name="Titre 1"/>
          <p:cNvSpPr txBox="1">
            <a:spLocks/>
          </p:cNvSpPr>
          <p:nvPr/>
        </p:nvSpPr>
        <p:spPr>
          <a:xfrm>
            <a:off x="1799693" y="3212977"/>
            <a:ext cx="2484276"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شجرة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4499992" y="5013176"/>
            <a:ext cx="2520280" cy="1670085"/>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جشرة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4" name="Étoile à 5 branches 3"/>
          <p:cNvSpPr/>
          <p:nvPr/>
        </p:nvSpPr>
        <p:spPr>
          <a:xfrm>
            <a:off x="899592" y="440668"/>
            <a:ext cx="1800200" cy="1620180"/>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Picture 7" descr="C:\Users\Oussama\Desktop\mem2022\tools\img\Nouveau dossier\26-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6096" y="8369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1862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2</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4499992"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معلم</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1884579" y="5008381"/>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طبيب</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9" name="Titre 1"/>
          <p:cNvSpPr txBox="1">
            <a:spLocks/>
          </p:cNvSpPr>
          <p:nvPr/>
        </p:nvSpPr>
        <p:spPr>
          <a:xfrm>
            <a:off x="1907704"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نجار</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4499992" y="5013176"/>
            <a:ext cx="2376264" cy="1670085"/>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فلاح</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1" name="Picture 2" descr="C:\Users\Oussama\Desktop\mem2022\tools\img\6\I30.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96000"/>
                    </a14:imgEffect>
                  </a14:imgLayer>
                </a14:imgProps>
              </a:ext>
              <a:ext uri="{28A0092B-C50C-407E-A947-70E740481C1C}">
                <a14:useLocalDpi xmlns:a14="http://schemas.microsoft.com/office/drawing/2010/main" val="0"/>
              </a:ext>
            </a:extLst>
          </a:blip>
          <a:srcRect/>
          <a:stretch>
            <a:fillRect/>
          </a:stretch>
        </p:blipFill>
        <p:spPr bwMode="auto">
          <a:xfrm>
            <a:off x="3347864" y="8367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0882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2</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4499992"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دارجة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1884579" y="5008381"/>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عجلة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9" name="Titre 1"/>
          <p:cNvSpPr txBox="1">
            <a:spLocks/>
          </p:cNvSpPr>
          <p:nvPr/>
        </p:nvSpPr>
        <p:spPr>
          <a:xfrm>
            <a:off x="1907704"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دراجة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4499992" y="5013176"/>
            <a:ext cx="2376264" cy="1670085"/>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جرارة</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6146" name="Picture 2" descr="C:\Users\Oussama\Desktop\mem2022\tools\img\6\p15.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3348104" y="8369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1948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188640"/>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3-اختر </a:t>
            </a: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الكلمة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4716016" y="3284984"/>
            <a:ext cx="2376264" cy="1656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8000" b="1" cap="none" spc="0" dirty="0" err="1" smtClean="0">
                <a:solidFill>
                  <a:schemeClr val="tx1"/>
                </a:solidFill>
                <a:effectLst>
                  <a:outerShdw blurRad="38100" dist="38100" dir="2700000" algn="tl">
                    <a:srgbClr val="000000">
                      <a:alpha val="43137"/>
                    </a:srgbClr>
                  </a:outerShdw>
                </a:effectLst>
                <a:latin typeface="Arabic Typesetting" pitchFamily="66" charset="-78"/>
                <a:cs typeface="+mj-cs"/>
              </a:rPr>
              <a:t>نَلمْةٌ</a:t>
            </a:r>
            <a:endParaRPr lang="fr-FR" sz="8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3" name="Picture 5" descr="C:\Users\Oussama\Desktop\mem2022\tools\img\Nouveau dossier\2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5856" y="9089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0" name="Titre 1"/>
          <p:cNvSpPr txBox="1">
            <a:spLocks/>
          </p:cNvSpPr>
          <p:nvPr/>
        </p:nvSpPr>
        <p:spPr>
          <a:xfrm>
            <a:off x="2195736" y="5049360"/>
            <a:ext cx="2376264" cy="162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8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نَحْلَةٌ</a:t>
            </a:r>
            <a:endParaRPr lang="fr-FR" sz="8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1" name="Titre 1"/>
          <p:cNvSpPr txBox="1">
            <a:spLocks/>
          </p:cNvSpPr>
          <p:nvPr/>
        </p:nvSpPr>
        <p:spPr>
          <a:xfrm>
            <a:off x="2195736" y="3321168"/>
            <a:ext cx="2376264" cy="162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8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نَخْلَةٌ</a:t>
            </a:r>
            <a:endParaRPr lang="fr-FR" sz="8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7" name="Titre 1"/>
          <p:cNvSpPr txBox="1">
            <a:spLocks/>
          </p:cNvSpPr>
          <p:nvPr/>
        </p:nvSpPr>
        <p:spPr>
          <a:xfrm>
            <a:off x="4716016" y="5049360"/>
            <a:ext cx="2376264" cy="162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8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نَمْلَةٌ</a:t>
            </a:r>
            <a:endParaRPr lang="fr-FR" sz="8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Tree>
    <p:extLst>
      <p:ext uri="{BB962C8B-B14F-4D97-AF65-F5344CB8AC3E}">
        <p14:creationId xmlns:p14="http://schemas.microsoft.com/office/powerpoint/2010/main" val="33094696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2</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4499992"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جَمَلٌ</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26" name="Picture 2" descr="C:\Users\Oussama\Desktop\mem2022\tools\img\Nouveau dossier\3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7864" y="8367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Titre 1"/>
          <p:cNvSpPr txBox="1">
            <a:spLocks/>
          </p:cNvSpPr>
          <p:nvPr/>
        </p:nvSpPr>
        <p:spPr>
          <a:xfrm>
            <a:off x="1884579" y="5008381"/>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حَبْلٌ</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9" name="Titre 1"/>
          <p:cNvSpPr txBox="1">
            <a:spLocks/>
          </p:cNvSpPr>
          <p:nvPr/>
        </p:nvSpPr>
        <p:spPr>
          <a:xfrm>
            <a:off x="1907704"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جَبَلٌ</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4499992" y="5013176"/>
            <a:ext cx="2376264" cy="1670085"/>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حَمَلٌ</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Tree>
    <p:extLst>
      <p:ext uri="{BB962C8B-B14F-4D97-AF65-F5344CB8AC3E}">
        <p14:creationId xmlns:p14="http://schemas.microsoft.com/office/powerpoint/2010/main" val="37505479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2</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6012160"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نـئم</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3419872" y="5008381"/>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قاعد</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9" name="Titre 1"/>
          <p:cNvSpPr txBox="1">
            <a:spLocks/>
          </p:cNvSpPr>
          <p:nvPr/>
        </p:nvSpPr>
        <p:spPr>
          <a:xfrm>
            <a:off x="827584"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قائم</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6012160" y="5013176"/>
            <a:ext cx="2376264" cy="1670085"/>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نائمٌ</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1" name="Picture 6" descr="C:\Users\Oussama\Desktop\mem2022\tools\img\4\5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8104" y="908960"/>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sp>
        <p:nvSpPr>
          <p:cNvPr id="12" name="Titre 1"/>
          <p:cNvSpPr txBox="1">
            <a:spLocks/>
          </p:cNvSpPr>
          <p:nvPr/>
        </p:nvSpPr>
        <p:spPr>
          <a:xfrm>
            <a:off x="899592" y="5006642"/>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واقف</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3419872"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8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نادم</a:t>
            </a:r>
            <a:endParaRPr lang="fr-FR" sz="8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Tree>
    <p:extLst>
      <p:ext uri="{BB962C8B-B14F-4D97-AF65-F5344CB8AC3E}">
        <p14:creationId xmlns:p14="http://schemas.microsoft.com/office/powerpoint/2010/main" val="20531360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2</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6012160"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7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غاضب</a:t>
            </a:r>
            <a:endParaRPr lang="fr-FR" sz="7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3419872" y="5008381"/>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7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مبتسم</a:t>
            </a:r>
            <a:endParaRPr lang="fr-FR" sz="7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9" name="Titre 1"/>
          <p:cNvSpPr txBox="1">
            <a:spLocks/>
          </p:cNvSpPr>
          <p:nvPr/>
        </p:nvSpPr>
        <p:spPr>
          <a:xfrm>
            <a:off x="899592"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مرتسمة</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6012160" y="5013176"/>
            <a:ext cx="2376264" cy="1670085"/>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7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مرتسمٌ</a:t>
            </a:r>
            <a:endParaRPr lang="fr-FR" sz="7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2" name="Titre 1"/>
          <p:cNvSpPr txBox="1">
            <a:spLocks/>
          </p:cNvSpPr>
          <p:nvPr/>
        </p:nvSpPr>
        <p:spPr>
          <a:xfrm>
            <a:off x="899592" y="5006642"/>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7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مندهش</a:t>
            </a:r>
            <a:endParaRPr lang="fr-FR" sz="7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3419872"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7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مكشر</a:t>
            </a:r>
            <a:endParaRPr lang="fr-FR" sz="7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4" name="Picture 2" descr="C:\Users\Oussama\Desktop\mem2022\tools\img\6\g1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2120" y="9089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9655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2</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5940152" y="3212977"/>
            <a:ext cx="2520280"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مستسلمة</a:t>
            </a:r>
            <a:endParaRPr lang="fr-FR" sz="8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3419872" y="5008381"/>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7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متكلمة</a:t>
            </a:r>
            <a:endParaRPr lang="fr-FR" sz="7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9" name="Titre 1"/>
          <p:cNvSpPr txBox="1">
            <a:spLocks/>
          </p:cNvSpPr>
          <p:nvPr/>
        </p:nvSpPr>
        <p:spPr>
          <a:xfrm>
            <a:off x="899592"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متحجبة</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6012160" y="5013176"/>
            <a:ext cx="2376264" cy="1670085"/>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مرتسمٌة</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2" name="Titre 1"/>
          <p:cNvSpPr txBox="1">
            <a:spLocks/>
          </p:cNvSpPr>
          <p:nvPr/>
        </p:nvSpPr>
        <p:spPr>
          <a:xfrm>
            <a:off x="899592" y="5006642"/>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7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متعجبة</a:t>
            </a:r>
            <a:endParaRPr lang="fr-FR" sz="7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3419872" y="3212977"/>
            <a:ext cx="237626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7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متعلمة</a:t>
            </a:r>
            <a:endParaRPr lang="fr-FR" sz="7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7170" name="Picture 2" descr="C:\Users\Oussama\Desktop\mem2022\tools\img\3\3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1880" y="9089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1" name="Étoile à 5 branches 10"/>
          <p:cNvSpPr/>
          <p:nvPr/>
        </p:nvSpPr>
        <p:spPr>
          <a:xfrm>
            <a:off x="899592" y="440668"/>
            <a:ext cx="1800200" cy="1620180"/>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378218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2339752" y="2545146"/>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فهم الجمل</a:t>
            </a:r>
          </a:p>
          <a:p>
            <a:pPr lvl="0" algn="ctr" rtl="1">
              <a:spcBef>
                <a:spcPts val="0"/>
              </a:spcBef>
            </a:pPr>
            <a:r>
              <a:rPr lang="ar-DZ"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(لا تظهر في التطبيق</a:t>
            </a: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a:t>
            </a:r>
            <a:endParaRPr lang="fr-FR"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endParaRPr>
          </a:p>
        </p:txBody>
      </p:sp>
    </p:spTree>
    <p:extLst>
      <p:ext uri="{BB962C8B-B14F-4D97-AF65-F5344CB8AC3E}">
        <p14:creationId xmlns:p14="http://schemas.microsoft.com/office/powerpoint/2010/main" val="26911244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سيارة الأجرة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3075" name="Picture 3" descr="C:\Users\Oussama\Desktop\mem2022\tools\img\4\p1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6" name="Picture 4" descr="C:\Users\Oussama\Desktop\mem2022\tools\img\4\p16.jpg"/>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4572000" y="429309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7" name="Picture 5" descr="C:\Users\Oussama\Desktop\mem2022\tools\img\4\p25.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67984" y="429309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8" name="Picture 6" descr="C:\Users\Oussama\Desktop\mem2022\tools\img\4\p33.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67744"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7976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كرة السلة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8194" name="Picture 2" descr="C:\Users\Oussama\Desktop\mem2022\tools\img\4\6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2160" y="429309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8196" name="Picture 4" descr="C:\Users\Oussama\Desktop\mem2022\tools\img\4\p5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6" y="198908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8197" name="Picture 5" descr="C:\Users\Oussama\Desktop\mem2022\tools\img\4\p58.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5616" y="429309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8198" name="Picture 6" descr="C:\Users\Oussama\Desktop\mem2022\tools\img\4\p60.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63888"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3" name="Picture 4" descr="C:\Users\Oussama\Desktop\mem2022\tools\img\4\p46.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12160" y="1988840"/>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26" name="Picture 2" descr="C:\Users\Oussama\Desktop\mem2022\tools\img\6\g2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64128" y="429309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0853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أدوات التنظيف</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2" name="Picture 2" descr="C:\Users\Oussama\Desktop\mem2022\tools\img\6\g3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206084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3" name="Picture 3" descr="C:\Users\Oussama\Desktop\mem2022\tools\img\6\g2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856" y="206084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2" name="Picture 4" descr="C:\Users\Oussama\Desktop\mem2022\tools\img\6\g2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92120" y="4428981"/>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3" name="Picture 5" descr="C:\Users\Oussama\Desktop\mem2022\tools\img\1\b12.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40392" y="44373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4" name="Picture 6" descr="C:\Users\Oussama\Desktop\mem2022\tools\img\1\b13.jpg"/>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89000"/>
                    </a14:imgEffect>
                  </a14:imgLayer>
                </a14:imgProps>
              </a:ext>
              <a:ext uri="{28A0092B-C50C-407E-A947-70E740481C1C}">
                <a14:useLocalDpi xmlns:a14="http://schemas.microsoft.com/office/drawing/2010/main" val="0"/>
              </a:ext>
            </a:extLst>
          </a:blip>
          <a:srcRect/>
          <a:stretch>
            <a:fillRect/>
          </a:stretch>
        </p:blipFill>
        <p:spPr bwMode="auto">
          <a:xfrm>
            <a:off x="3491880" y="206084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5" name="Picture 7" descr="C:\Users\Oussama\Desktop\mem2022\tools\img\1\b14.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15856" y="44371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5240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المصلي ساجد</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9219" name="Picture 3" descr="C:\Users\Oussama\Desktop\mem2022\tools\img\4\p40.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043728" y="44371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220" name="Picture 4" descr="C:\Users\Oussama\Desktop\mem2022\tools\img\4\p41.jpg"/>
          <p:cNvPicPr>
            <a:picLocks noChangeAspect="1" noChangeArrowheads="1"/>
          </p:cNvPicPr>
          <p:nvPr/>
        </p:nvPicPr>
        <p:blipFill>
          <a:blip r:embed="rId4" cstate="print">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043728" y="206108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221" name="Picture 5" descr="C:\Users\Oussama\Desktop\mem2022\tools\img\4\p42.jpg"/>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5940152" y="44371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222" name="Picture 6" descr="C:\Users\Oussama\Desktop\mem2022\tools\img\4\p51.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92120" y="44371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224" name="Picture 8" descr="C:\Users\Oussama\Desktop\mem2022\tools\img\4\p56.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92120" y="206084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225" name="Picture 9" descr="C:\Users\Oussama\Desktop\mem2022\tools\img\4\p57.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940152" y="206084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356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051720" y="980728"/>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يشرب الماء</a:t>
            </a:r>
            <a:endParaRPr lang="fr-FR" sz="4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28" name="Picture 4" descr="C:\Users\Oussama\Desktop\mem2022\tools\img\4\46-1.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6156416" y="4221088"/>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30" name="Picture 6" descr="C:\Users\Oussama\Desktop\mem2022\tools\img\4\51.jpg"/>
          <p:cNvPicPr>
            <a:picLocks noChangeAspect="1" noChangeArrowheads="1"/>
          </p:cNvPicPr>
          <p:nvPr/>
        </p:nvPicPr>
        <p:blipFill>
          <a:blip r:embed="rId4" cstate="print">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75656" y="1844824"/>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4098" name="Picture 2" descr="C:\Users\Oussama\Desktop\mem2022\tools\img\6\I37.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75896" y="422108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099" name="Picture 3" descr="C:\Users\Oussama\Desktop\mem2022\tools\img\6\I39.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45487" y="18450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100" name="Picture 4" descr="C:\Users\Oussama\Desktop\mem2022\tools\img\6\I42.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79912" y="422108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101" name="Picture 5" descr="C:\Users\Oussama\Desktop\mem2022\tools\img\6\I48.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779912" y="184482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3252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ar-DZ"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3</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95736" y="980728"/>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400" b="1" cap="none" spc="0" dirty="0">
                <a:solidFill>
                  <a:schemeClr val="tx1"/>
                </a:solidFill>
                <a:effectLst>
                  <a:outerShdw blurRad="38100" dist="38100" dir="2700000" algn="tl">
                    <a:srgbClr val="000000">
                      <a:alpha val="43137"/>
                    </a:srgbClr>
                  </a:outerShdw>
                </a:effectLst>
                <a:latin typeface="Arabic Typesetting" pitchFamily="66" charset="-78"/>
                <a:cs typeface="+mj-cs"/>
              </a:rPr>
              <a:t>أ</a:t>
            </a:r>
            <a:r>
              <a:rPr lang="ar-DZ" sz="4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مسك الكرة</a:t>
            </a:r>
            <a:endParaRPr lang="fr-FR" sz="4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6146" name="Picture 2" descr="C:\Users\Oussama\Desktop\mem2022\tools\img\6\I32.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10000"/>
                    </a14:imgEffect>
                  </a14:imgLayer>
                </a14:imgProps>
              </a:ext>
              <a:ext uri="{28A0092B-C50C-407E-A947-70E740481C1C}">
                <a14:useLocalDpi xmlns:a14="http://schemas.microsoft.com/office/drawing/2010/main" val="0"/>
              </a:ext>
            </a:extLst>
          </a:blip>
          <a:srcRect/>
          <a:stretch>
            <a:fillRect/>
          </a:stretch>
        </p:blipFill>
        <p:spPr bwMode="auto">
          <a:xfrm>
            <a:off x="1162975" y="191707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1" name="Picture 4" descr="C:\Users\Oussama\Desktop\mem2022\tools\img\4\p55.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08144" y="422108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47" name="Picture 3" descr="C:\Users\Oussama\Desktop\mem2022\tools\img\6\i18.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65617" y="422108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49" name="Picture 5" descr="C:\Users\Oussama\Desktop\mem2022\tools\img\6\i16.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28184" y="422108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50" name="Picture 6" descr="C:\Users\Oussama\Desktop\mem2022\tools\img\6\i19.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8184" y="186847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6" name="Picture 2" descr="C:\Users\Oussama\Desktop\memoire 2022\mem2022\tools\img\sawca6\1\i17.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07904" y="191707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6335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الجملة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827584" y="3205081"/>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الرجل معطل</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827584" y="5008381"/>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سيارة الشرطة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4499992" y="3212977"/>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سيارة الاسعاف</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4499992" y="5013177"/>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السيارة معطلة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242" name="Picture 2" descr="C:\Users\Oussama\Desktop\mem2022\tools\img\6\I4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7864" y="8369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770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الجملة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827584" y="3205081"/>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البنت نائمة</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827584" y="5008381"/>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الرجل قاعد</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4499992" y="3212977"/>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الرجل نائم</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4499992" y="5013177"/>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البنت جالسة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 name="Picture 2" descr="C:\Users\Oussama\Desktop\mem2022\tools\img\6\p2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8104" y="8367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728749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الجملة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827584" y="3205081"/>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يركب القطار</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827584" y="5008381"/>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تركب الحافلة</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4499992" y="3212977"/>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يركب الحافلة</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4499992" y="5013177"/>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تركب السيارة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4098" name="Picture 2" descr="C:\Users\Oussama\Desktop\mem2022\tools\img\1\g17.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5856" y="8369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0448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الجملة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4530419" y="3192505"/>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تقرأ القرآن</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827584" y="5008381"/>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يقرأ القرآن</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827584" y="3212977"/>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يكتب الرسالة</a:t>
            </a:r>
            <a:endParaRPr lang="fr-FR" sz="6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8194" name="Picture 2" descr="C:\Users\Oussama\Desktop\mem2022\tools\img\3\p42.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77000"/>
                    </a14:imgEffect>
                  </a14:imgLayer>
                </a14:imgProps>
              </a:ext>
              <a:ext uri="{28A0092B-C50C-407E-A947-70E740481C1C}">
                <a14:useLocalDpi xmlns:a14="http://schemas.microsoft.com/office/drawing/2010/main" val="0"/>
              </a:ext>
            </a:extLst>
          </a:blip>
          <a:srcRect/>
          <a:stretch>
            <a:fillRect/>
          </a:stretch>
        </p:blipFill>
        <p:spPr bwMode="auto">
          <a:xfrm>
            <a:off x="3450419" y="9089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5" name="Titre 1"/>
          <p:cNvSpPr txBox="1">
            <a:spLocks/>
          </p:cNvSpPr>
          <p:nvPr/>
        </p:nvSpPr>
        <p:spPr>
          <a:xfrm>
            <a:off x="4499992" y="5013177"/>
            <a:ext cx="3456384" cy="1662719"/>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6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يقرأ الجريدة</a:t>
            </a:r>
            <a:endParaRPr lang="fr-FR" sz="66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Tree>
    <p:extLst>
      <p:ext uri="{BB962C8B-B14F-4D97-AF65-F5344CB8AC3E}">
        <p14:creationId xmlns:p14="http://schemas.microsoft.com/office/powerpoint/2010/main" val="11175984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يستعمل الولدان الحاسوب</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7171" name="Picture 3" descr="C:\Users\Oussama\Desktop\mem2022\tools\img\4\p37.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2120" y="443711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7173" name="Picture 5" descr="C:\Users\Oussama\Desktop\mem2022\tools\img\4\p3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44373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6" name="Picture 2" descr="C:\Users\Oussama\Desktop\mem2022\tools\img\6\p1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91880" y="210157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Oussama\Desktop\mem2022\tools\img\6\I46.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40152" y="210157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9" name="Picture 5" descr="C:\Users\Oussama\Desktop\mem2022\tools\img\6\I53.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3848" y="2133096"/>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30" name="Picture 6" descr="C:\Users\Oussama\Desktop\mem2022\tools\img\6\g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43848" y="44373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6930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يشرب </a:t>
            </a: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rPr>
              <a:t>الرَجُلُ</a:t>
            </a:r>
            <a:r>
              <a:rPr lang="fr-FR" sz="4000" b="1" cap="none" spc="0" dirty="0" smtClean="0">
                <a:solidFill>
                  <a:schemeClr val="tx1"/>
                </a:solidFill>
                <a:effectLst>
                  <a:outerShdw blurRad="38100" dist="38100" dir="2700000" algn="tl">
                    <a:srgbClr val="000000">
                      <a:alpha val="43137"/>
                    </a:srgbClr>
                  </a:outerShdw>
                </a:effectLst>
                <a:latin typeface="Arabic Typesetting" pitchFamily="66" charset="-78"/>
              </a:rPr>
              <a:t> </a:t>
            </a: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من القارورة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26" name="Picture 2" descr="C:\Users\Oussama\Desktop\mem2022\tools\img\4\p2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2204624"/>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Oussama\Desktop\mem2022\tools\img\4\4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4517760"/>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C:\Users\Oussama\Desktop\mem2022\tools\img\4\46-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9049" y="4509360"/>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29" name="Picture 5" descr="C:\Users\Oussama\Desktop\mem2022\tools\img\4\49.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64128" y="4509360"/>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30" name="Picture 6" descr="C:\Users\Oussama\Desktop\mem2022\tools\img\4\5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5616" y="2204624"/>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31" name="Picture 7" descr="C:\Users\Oussama\Desktop\mem2022\tools\img\4\52.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59588" y="2204864"/>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5162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1403648" y="1124745"/>
            <a:ext cx="6120680"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rPr>
              <a:t>السيارة بجانب الشاحنة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4" name="Picture 2" descr="C:\Users\Oussama\Desktop\mem2022\tools\img\1\b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Picture 3" descr="C:\Users\Oussama\Desktop\mem2022\tools\img\1\b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856"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 name="Picture 4" descr="C:\Users\Oussama\Desktop\mem2022\tools\img\1\b5.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5856"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7" name="Picture 5" descr="C:\Users\Oussama\Desktop\mem2022\tools\img\1\b6.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64128"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8" name="Picture 6" descr="C:\Users\Oussama\Desktop\mem2022\tools\img\1\b7.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4128"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 name="Picture 7" descr="C:\Users\Oussama\Desktop\mem2022\tools\img\1\b8.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40152" y="220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7948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الطبيبة تفحص أسنان الولد </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0242" name="Picture 2" descr="C:\Users\Oussama\Desktop\mem2022\tools\img\4\p23.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6084408" y="436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43" name="Picture 3" descr="C:\Users\Oussama\Desktop\mem2022\tools\img\4\p2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64128" y="436534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44" name="Picture 4" descr="C:\Users\Oussama\Desktop\mem2022\tools\img\4\p29.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3848"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45" name="Picture 5" descr="C:\Users\Oussama\Desktop\mem2022\tools\img\4\p30.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4128"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122" name="Picture 2" descr="C:\Users\Oussama\Desktop\mem2022\tools\img\6\I28-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84408" y="1988840"/>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5123" name="Picture 3" descr="C:\Users\Oussama\Desktop\mem2022\tools\img\6\I26-1.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43848" y="4365104"/>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99504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البنت تجلس على الكرسي</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0" name="Picture 2" descr="C:\Users\Oussama\Desktop\mem2022\tools\img\4\5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4580741"/>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2051" name="Picture 3" descr="C:\Users\Oussama\Desktop\mem2022\tools\img\4\6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1076" y="4581368"/>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2053" name="Picture 5" descr="C:\Users\Oussama\Desktop\mem2022\tools\img\4\5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40152" y="2222909"/>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2054" name="Picture 6" descr="C:\Users\Oussama\Desktop\mem2022\tools\img\4\53.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55472" y="2221769"/>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2055" name="Picture 7" descr="C:\Users\Oussama\Desktop\mem2022\tools\img\4\5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42227" y="2204864"/>
            <a:ext cx="2160000" cy="2160000"/>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pic>
        <p:nvPicPr>
          <p:cNvPr id="10" name="Picture 2" descr="C:\Users\Oussama\Desktop\mem2022\tools\img\6\i22.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64128" y="458136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7446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123728" y="1124745"/>
            <a:ext cx="4824536"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الرجل الغاضب يقرأ الكتاب</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6146" name="Picture 2" descr="C:\Users\Oussama\Desktop\mem2022\tools\img\4\p39.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3563888" y="454673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48" name="Picture 4" descr="C:\Users\Oussama\Desktop\mem2022\tools\img\4\p43.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3608" y="4540169"/>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49" name="Picture 5" descr="C:\Users\Oussama\Desktop\mem2022\tools\img\4\p44.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3608" y="22051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50" name="Picture 6" descr="C:\Users\Oussama\Desktop\mem2022\tools\img\4\p45.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3888" y="21795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51" name="Picture 7" descr="C:\Users\Oussama\Desktop\mem2022\tools\img\4\p49.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84408" y="4577121"/>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52" name="Picture 8" descr="C:\Users\Oussama\Desktop\mem2022\tools\img\4\p59.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84408" y="21795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2925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4</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الصورة الموافقة للجملة المكتوبة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1403648" y="1124745"/>
            <a:ext cx="6120680" cy="72032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rPr>
              <a:t>المرأة</a:t>
            </a:r>
            <a:r>
              <a:rPr lang="fr-FR" sz="4000" b="1" cap="none" spc="0" dirty="0" smtClean="0">
                <a:solidFill>
                  <a:schemeClr val="tx1"/>
                </a:solidFill>
                <a:effectLst>
                  <a:outerShdw blurRad="38100" dist="38100" dir="2700000" algn="tl">
                    <a:srgbClr val="000000">
                      <a:alpha val="43137"/>
                    </a:srgbClr>
                  </a:outerShdw>
                </a:effectLst>
                <a:latin typeface="Arabic Typesetting" pitchFamily="66" charset="-78"/>
              </a:rPr>
              <a:t> </a:t>
            </a: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تشير بإصبعها للأعلى</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0" name="Picture 2" descr="C:\Users\Oussama\Desktop\mem2022\tools\img\6\g1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1" name="Picture 3" descr="C:\Users\Oussama\Desktop\mem2022\tools\img\6\g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9049"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2" name="Picture 4" descr="C:\Users\Oussama\Desktop\mem2022\tools\img\6\g1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5996"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3" name="Picture 5" descr="C:\Users\Oussama\Desktop\mem2022\tools\img\6\g13.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40152" y="450936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4" name="Picture 6" descr="C:\Users\Oussama\Desktop\mem2022\tools\img\6\g12.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55996"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5" name="Picture 7" descr="C:\Users\Oussama\Desktop\mem2022\tools\img\6\g1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19049"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11148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5</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الجملة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304248" y="4077072"/>
            <a:ext cx="4500000"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الطفل يضع النظارات</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2304248" y="3140968"/>
            <a:ext cx="4500000"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الرجل يأكل اللحم</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2304248" y="5949280"/>
            <a:ext cx="4500000"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الرجل يقرأ الجريدة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2304248" y="5013176"/>
            <a:ext cx="4500000"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الطفل يقرأ الكتاب</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9" name="Picture 5" descr="C:\Users\Oussama\Desktop\mem2022\tools\img\6\I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4000" y="7647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01413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5</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الجملة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2304248" y="5013264"/>
            <a:ext cx="4500000"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يسجل اللاعب الكرة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2304248" y="4077160"/>
            <a:ext cx="4500000"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يمسك اللاعبون الكرة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2304248" y="3121892"/>
            <a:ext cx="4500000"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يرفع اللاعبون الكأس</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2304248" y="5949368"/>
            <a:ext cx="4500000"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يرفع اللاعبون العلم</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2291" name="Picture 3" descr="C:\Users\Oussama\Desktop\mem2022\tools\img\1\i1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8104" y="76470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22222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5</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الجملة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1835696" y="4077072"/>
            <a:ext cx="4968552"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السيارة بين الشاحنة والدراجة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1835696" y="3140968"/>
            <a:ext cx="4968552"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السيارة بين الشاحنة والحافلة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1835696" y="5949280"/>
            <a:ext cx="4968552"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الشاحنة بين الدرجة والسيارة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1835696" y="5013176"/>
            <a:ext cx="4968552" cy="792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الشاحنة بين الدراجة والحافلة</a:t>
            </a:r>
            <a:endParaRPr lang="fr-FR"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3074" name="Picture 2" descr="C:\Users\Oussama\Desktop\mem2022\tools\img\1\b1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0112" y="8369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958296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2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5</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الجملة الموافقة للصورة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13" name="Titre 1"/>
          <p:cNvSpPr txBox="1">
            <a:spLocks/>
          </p:cNvSpPr>
          <p:nvPr/>
        </p:nvSpPr>
        <p:spPr>
          <a:xfrm>
            <a:off x="467544" y="3356992"/>
            <a:ext cx="8280920" cy="83136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الرجل يتحدث في الهاتف ويستعمل الحاسوب</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1266" name="Picture 2" descr="C:\Users\Oussama\Desktop\mem2022\tools\img\6\I55.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3203848" y="836952"/>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9" name="Titre 1"/>
          <p:cNvSpPr txBox="1">
            <a:spLocks/>
          </p:cNvSpPr>
          <p:nvPr/>
        </p:nvSpPr>
        <p:spPr>
          <a:xfrm>
            <a:off x="467544" y="5589240"/>
            <a:ext cx="8280920" cy="83136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المرأة تتحدث في الهاتف وتستعمل الحاسوب</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467544" y="4509120"/>
            <a:ext cx="8280920" cy="83136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المرأة تتحدث في الحاسوب وتستعمل الكتاب</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Tree>
    <p:extLst>
      <p:ext uri="{BB962C8B-B14F-4D97-AF65-F5344CB8AC3E}">
        <p14:creationId xmlns:p14="http://schemas.microsoft.com/office/powerpoint/2010/main" val="198194150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2339752" y="2545146"/>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جملة استفهامية</a:t>
            </a:r>
          </a:p>
          <a:p>
            <a:pPr lvl="0" algn="ctr" rtl="1">
              <a:spcBef>
                <a:spcPts val="0"/>
              </a:spcBef>
            </a:pPr>
            <a:r>
              <a:rPr lang="ar-DZ"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(لا تظهر في التطبيق</a:t>
            </a: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a:t>
            </a:r>
            <a:endParaRPr lang="fr-FR"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endParaRPr>
          </a:p>
        </p:txBody>
      </p:sp>
    </p:spTree>
    <p:extLst>
      <p:ext uri="{BB962C8B-B14F-4D97-AF65-F5344CB8AC3E}">
        <p14:creationId xmlns:p14="http://schemas.microsoft.com/office/powerpoint/2010/main" val="55020321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3834028" y="836712"/>
            <a:ext cx="4896544"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r>
              <a:rPr lang="fr-FR" sz="2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6</a:t>
            </a:r>
            <a:r>
              <a:rPr lang="ar-DZ" sz="2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اختر الاجابة الصحيحة </a:t>
            </a:r>
          </a:p>
          <a:p>
            <a:pPr algn="r" rtl="1"/>
            <a:r>
              <a:rPr lang="ar-DZ" sz="20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a:t>
            </a: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أين نضع النقود؟</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pic>
        <p:nvPicPr>
          <p:cNvPr id="1027" name="Picture 3" descr="C:\Users\Oussama\Desktop\mem2022\tools\img\6\I2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7984" y="4585169"/>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C:\Users\Oussama\Desktop\mem2022\tools\img\6\g2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7984"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9" name="Picture 5" descr="C:\Users\Oussama\Desktop\mem2022\tools\img\1\p1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51720" y="220486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30" name="Picture 6" descr="C:\Users\Oussama\Desktop\mem2022\tools\img\6\p6.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51720" y="4585169"/>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9301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3834028" y="836712"/>
            <a:ext cx="4896544"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r>
              <a:rPr lang="fr-FR" sz="2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6</a:t>
            </a:r>
            <a:r>
              <a:rPr lang="ar-DZ" sz="2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اختر الاجابة الصحيحة </a:t>
            </a:r>
          </a:p>
          <a:p>
            <a:pPr algn="r" rtl="1"/>
            <a:r>
              <a:rPr lang="ar-DZ" sz="20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a:t>
            </a: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ماذا نلبس في فصل الشتاء؟</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pic>
        <p:nvPicPr>
          <p:cNvPr id="3074" name="Picture 2" descr="C:\Users\Oussama\Desktop\mem2022\tools\img\6\g2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8224" y="436534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5" name="Picture 3" descr="C:\Users\Oussama\Desktop\mem2022\tools\img\6\g2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9383"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6" name="Picture 4" descr="C:\Users\Oussama\Desktop\mem2022\tools\img\6\g24.jpg"/>
          <p:cNvPicPr>
            <a:picLocks noChangeAspect="1" noChangeArrowheads="1"/>
          </p:cNvPicPr>
          <p:nvPr/>
        </p:nvPicPr>
        <p:blipFill>
          <a:blip r:embed="rId4" cstate="print">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stretch>
            <a:fillRect/>
          </a:stretch>
        </p:blipFill>
        <p:spPr bwMode="auto">
          <a:xfrm>
            <a:off x="4427984" y="198884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7" name="Picture 5" descr="C:\Users\Oussama\Desktop\mem2022\tools\img\1\b15.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59383" y="4365344"/>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91994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3923928" y="260649"/>
            <a:ext cx="4896544"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r>
              <a:rPr lang="fr-FR" sz="2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6</a:t>
            </a:r>
            <a:r>
              <a:rPr lang="ar-DZ" sz="2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اختر الاجابة الصحيحة </a:t>
            </a:r>
          </a:p>
          <a:p>
            <a:pPr algn="r" rtl="1"/>
            <a:r>
              <a:rPr lang="ar-DZ" sz="20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a:t>
            </a: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ماذا يفعل الطبيب في الصورة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32620" y="5301209"/>
            <a:ext cx="4176464" cy="123067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يقيس الضغط</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1" name="Titre 1"/>
          <p:cNvSpPr txBox="1">
            <a:spLocks/>
          </p:cNvSpPr>
          <p:nvPr/>
        </p:nvSpPr>
        <p:spPr>
          <a:xfrm>
            <a:off x="4644008" y="5301209"/>
            <a:ext cx="4176464" cy="123067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يفحص الأذن</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2" name="Titre 1"/>
          <p:cNvSpPr txBox="1">
            <a:spLocks/>
          </p:cNvSpPr>
          <p:nvPr/>
        </p:nvSpPr>
        <p:spPr>
          <a:xfrm>
            <a:off x="332620" y="3854514"/>
            <a:ext cx="4176464" cy="123067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يكتب الوصفة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4644008" y="3854514"/>
            <a:ext cx="4176464" cy="123067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يفحص الأسنان</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2050" name="Picture 2" descr="C:\Users\Oussama\Desktop\mem2022\tools\img\3\p5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9363" y="1017032"/>
            <a:ext cx="2700000" cy="270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367507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3923928" y="260649"/>
            <a:ext cx="4896544"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r>
              <a:rPr lang="fr-FR" sz="2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6</a:t>
            </a:r>
            <a:r>
              <a:rPr lang="ar-DZ" sz="2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اختر الاجابة الصحيحة </a:t>
            </a:r>
          </a:p>
          <a:p>
            <a:pPr algn="r" rtl="1"/>
            <a:r>
              <a:rPr lang="ar-DZ" sz="20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a:t>
            </a: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ماذا تفعل البنت في الصورة؟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23528" y="3861049"/>
            <a:ext cx="4176464" cy="123067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تقرأ الكتاب</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1" name="Titre 1"/>
          <p:cNvSpPr txBox="1">
            <a:spLocks/>
          </p:cNvSpPr>
          <p:nvPr/>
        </p:nvSpPr>
        <p:spPr>
          <a:xfrm>
            <a:off x="4644008" y="5301209"/>
            <a:ext cx="4176464" cy="123067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تكتب على الصبورة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2" name="Titre 1"/>
          <p:cNvSpPr txBox="1">
            <a:spLocks/>
          </p:cNvSpPr>
          <p:nvPr/>
        </p:nvSpPr>
        <p:spPr>
          <a:xfrm>
            <a:off x="323528" y="5301209"/>
            <a:ext cx="4176464" cy="123067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ترسم على الورقة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4644008" y="3854514"/>
            <a:ext cx="4176464" cy="123067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تكتب على الورقة</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pic>
        <p:nvPicPr>
          <p:cNvPr id="14" name="Picture 4" descr="C:\Users\Oussama\Desktop\mem2022\tools\img\4\p38.jpg"/>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3168144" y="1017032"/>
            <a:ext cx="2700000" cy="270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69004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1043608" y="2545146"/>
            <a:ext cx="7200800"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فهم التراكيب النحوية</a:t>
            </a:r>
          </a:p>
          <a:p>
            <a:pPr lvl="0" algn="ctr" rtl="1">
              <a:spcBef>
                <a:spcPts val="0"/>
              </a:spcBef>
            </a:pPr>
            <a:r>
              <a:rPr lang="ar-DZ"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(لا تظهر في التطبيق</a:t>
            </a: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a:t>
            </a:r>
            <a:endParaRPr lang="fr-FR"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endParaRPr>
          </a:p>
        </p:txBody>
      </p:sp>
    </p:spTree>
    <p:extLst>
      <p:ext uri="{BB962C8B-B14F-4D97-AF65-F5344CB8AC3E}">
        <p14:creationId xmlns:p14="http://schemas.microsoft.com/office/powerpoint/2010/main" val="398172497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7</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الكلمات المناسبة لملء الفراغ</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60040" y="1232756"/>
            <a:ext cx="8532440" cy="97210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r>
              <a:rPr lang="ar-DZ" sz="5400" cap="none" spc="0" dirty="0" smtClean="0">
                <a:solidFill>
                  <a:schemeClr val="tx1"/>
                </a:solidFill>
                <a:latin typeface="Arabic Typesetting" pitchFamily="66" charset="-78"/>
                <a:cs typeface="Arabic Typesetting" pitchFamily="66" charset="-78"/>
              </a:rPr>
              <a:t>  </a:t>
            </a:r>
            <a:r>
              <a:rPr lang="ar-DZ" sz="5400" b="1" cap="none" spc="0" dirty="0" smtClean="0">
                <a:solidFill>
                  <a:schemeClr val="tx1"/>
                </a:solidFill>
                <a:latin typeface="Arabic Typesetting" pitchFamily="66" charset="-78"/>
                <a:cs typeface="Arabic Typesetting" pitchFamily="66" charset="-78"/>
              </a:rPr>
              <a:t>الكورونا مرض أصاب عدد كبير من</a:t>
            </a:r>
            <a:r>
              <a:rPr lang="ar-DZ" sz="5400" cap="none" spc="0" dirty="0" smtClean="0">
                <a:solidFill>
                  <a:schemeClr val="tx1"/>
                </a:solidFill>
                <a:latin typeface="Arabic Typesetting" pitchFamily="66" charset="-78"/>
                <a:cs typeface="Arabic Typesetting" pitchFamily="66" charset="-78"/>
              </a:rPr>
              <a:t>  ___ </a:t>
            </a:r>
          </a:p>
        </p:txBody>
      </p:sp>
      <p:sp>
        <p:nvSpPr>
          <p:cNvPr id="13" name="Titre 1"/>
          <p:cNvSpPr txBox="1">
            <a:spLocks/>
          </p:cNvSpPr>
          <p:nvPr/>
        </p:nvSpPr>
        <p:spPr>
          <a:xfrm>
            <a:off x="323744" y="3861048"/>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رِئَةُ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4" name="Titre 1"/>
          <p:cNvSpPr txBox="1">
            <a:spLocks/>
          </p:cNvSpPr>
          <p:nvPr/>
        </p:nvSpPr>
        <p:spPr>
          <a:xfrm>
            <a:off x="6948480" y="3861048"/>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الانتِشَارِ</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2645840" y="3861048"/>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النَاسِ</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9" name="Titre 1"/>
          <p:cNvSpPr txBox="1">
            <a:spLocks/>
          </p:cNvSpPr>
          <p:nvPr/>
        </p:nvSpPr>
        <p:spPr>
          <a:xfrm>
            <a:off x="4788240" y="3861048"/>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وَجْهَ</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4" name="Rectangle 3"/>
          <p:cNvSpPr/>
          <p:nvPr/>
        </p:nvSpPr>
        <p:spPr>
          <a:xfrm>
            <a:off x="1727792" y="1196752"/>
            <a:ext cx="1548064" cy="9721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6641197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7</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الكلمات المناسبة لملء الفراغ</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60040" y="1664804"/>
            <a:ext cx="8532440" cy="97210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r>
              <a:rPr lang="ar-DZ" sz="5400" cap="none" spc="0" dirty="0" smtClean="0">
                <a:solidFill>
                  <a:schemeClr val="tx1"/>
                </a:solidFill>
                <a:latin typeface="Arabic Typesetting" pitchFamily="66" charset="-78"/>
                <a:cs typeface="Arabic Typesetting" pitchFamily="66" charset="-78"/>
              </a:rPr>
              <a:t> </a:t>
            </a:r>
            <a:r>
              <a:rPr lang="ar-DZ" sz="5400" b="1" cap="none" spc="0" dirty="0">
                <a:solidFill>
                  <a:schemeClr val="tx1"/>
                </a:solidFill>
                <a:latin typeface="Arabic Typesetting" pitchFamily="66" charset="-78"/>
                <a:cs typeface="Arabic Typesetting" pitchFamily="66" charset="-78"/>
              </a:rPr>
              <a:t>الكورونا مرض أصاب عدد كبير من  الناس وهذا المرض بسبب </a:t>
            </a:r>
            <a:r>
              <a:rPr lang="ar-DZ" sz="5400" b="1" cap="none" spc="0" dirty="0" smtClean="0">
                <a:solidFill>
                  <a:schemeClr val="tx1"/>
                </a:solidFill>
                <a:latin typeface="Arabic Typesetting" pitchFamily="66" charset="-78"/>
                <a:cs typeface="Arabic Typesetting" pitchFamily="66" charset="-78"/>
              </a:rPr>
              <a:t> ___    </a:t>
            </a:r>
            <a:r>
              <a:rPr lang="ar-DZ" sz="5400" b="1" cap="none" spc="0" dirty="0">
                <a:solidFill>
                  <a:schemeClr val="tx1"/>
                </a:solidFill>
                <a:latin typeface="Arabic Typesetting" pitchFamily="66" charset="-78"/>
                <a:cs typeface="Arabic Typesetting" pitchFamily="66" charset="-78"/>
              </a:rPr>
              <a:t>سريع الانتشار</a:t>
            </a:r>
            <a:endParaRPr lang="ar-DZ" sz="5400" cap="none" spc="0" dirty="0" smtClean="0">
              <a:solidFill>
                <a:schemeClr val="tx1"/>
              </a:solidFill>
              <a:latin typeface="Arabic Typesetting" pitchFamily="66" charset="-78"/>
              <a:cs typeface="Arabic Typesetting" pitchFamily="66" charset="-78"/>
            </a:endParaRPr>
          </a:p>
        </p:txBody>
      </p:sp>
      <p:sp>
        <p:nvSpPr>
          <p:cNvPr id="13" name="Titre 1"/>
          <p:cNvSpPr txBox="1">
            <a:spLocks/>
          </p:cNvSpPr>
          <p:nvPr/>
        </p:nvSpPr>
        <p:spPr>
          <a:xfrm>
            <a:off x="323744" y="3861048"/>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رِئَةُ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4" name="Titre 1"/>
          <p:cNvSpPr txBox="1">
            <a:spLocks/>
          </p:cNvSpPr>
          <p:nvPr/>
        </p:nvSpPr>
        <p:spPr>
          <a:xfrm>
            <a:off x="6948480" y="3861048"/>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فيروس</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2645840" y="3861048"/>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النَاسِ</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9" name="Titre 1"/>
          <p:cNvSpPr txBox="1">
            <a:spLocks/>
          </p:cNvSpPr>
          <p:nvPr/>
        </p:nvSpPr>
        <p:spPr>
          <a:xfrm>
            <a:off x="4788240" y="3861048"/>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وَجْهَ</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9" name="Rectangle 8"/>
          <p:cNvSpPr/>
          <p:nvPr/>
        </p:nvSpPr>
        <p:spPr>
          <a:xfrm>
            <a:off x="6228184" y="1772816"/>
            <a:ext cx="1548064" cy="8640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7501558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4716016" y="44625"/>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7</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-اختر الكلمات المناسبة لملء الفراغ</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3" name="Titre 1"/>
          <p:cNvSpPr txBox="1">
            <a:spLocks/>
          </p:cNvSpPr>
          <p:nvPr/>
        </p:nvSpPr>
        <p:spPr>
          <a:xfrm>
            <a:off x="360040" y="1556792"/>
            <a:ext cx="8532440" cy="194421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r>
              <a:rPr lang="ar-DZ" sz="5400" cap="none" spc="0" dirty="0" smtClean="0">
                <a:solidFill>
                  <a:schemeClr val="tx1"/>
                </a:solidFill>
                <a:latin typeface="Arabic Typesetting" pitchFamily="66" charset="-78"/>
                <a:cs typeface="Arabic Typesetting" pitchFamily="66" charset="-78"/>
              </a:rPr>
              <a:t>  </a:t>
            </a:r>
            <a:r>
              <a:rPr lang="ar-DZ" sz="5400" b="1" cap="none" spc="0" dirty="0" smtClean="0">
                <a:solidFill>
                  <a:schemeClr val="tx1"/>
                </a:solidFill>
                <a:latin typeface="Arabic Typesetting" pitchFamily="66" charset="-78"/>
                <a:cs typeface="Arabic Typesetting" pitchFamily="66" charset="-78"/>
              </a:rPr>
              <a:t>الكورونا مرض أصاب عدد كبير من  الناس وهذا المرض بسبب فيروس سريع الانتشار اسمه </a:t>
            </a:r>
            <a:r>
              <a:rPr lang="ar-DZ" sz="5400" b="1" cap="none" spc="0" dirty="0" err="1" smtClean="0">
                <a:solidFill>
                  <a:schemeClr val="tx1"/>
                </a:solidFill>
                <a:latin typeface="Arabic Typesetting" pitchFamily="66" charset="-78"/>
                <a:cs typeface="Arabic Typesetting" pitchFamily="66" charset="-78"/>
              </a:rPr>
              <a:t>كوفيد</a:t>
            </a:r>
            <a:r>
              <a:rPr lang="ar-DZ" sz="2000" b="1" cap="none" spc="0" dirty="0" smtClean="0">
                <a:solidFill>
                  <a:schemeClr val="tx1"/>
                </a:solidFill>
                <a:latin typeface="Arabic Typesetting" pitchFamily="66" charset="-78"/>
                <a:cs typeface="Arabic Typesetting" pitchFamily="66" charset="-78"/>
              </a:rPr>
              <a:t> </a:t>
            </a:r>
            <a:r>
              <a:rPr lang="ar-DZ" sz="5400" b="1" cap="none" spc="0" dirty="0" smtClean="0">
                <a:solidFill>
                  <a:schemeClr val="tx1"/>
                </a:solidFill>
                <a:latin typeface="Arabic Typesetting" pitchFamily="66" charset="-78"/>
                <a:cs typeface="Arabic Typesetting" pitchFamily="66" charset="-78"/>
              </a:rPr>
              <a:t>19، يصيب  ___   الانسان </a:t>
            </a:r>
            <a:endParaRPr lang="fr-FR" sz="5400" b="1" cap="none" spc="0" dirty="0">
              <a:solidFill>
                <a:schemeClr val="tx1"/>
              </a:solidFill>
              <a:latin typeface="Arabic Typesetting" pitchFamily="66" charset="-78"/>
              <a:cs typeface="Arabic Typesetting" pitchFamily="66" charset="-78"/>
            </a:endParaRPr>
          </a:p>
        </p:txBody>
      </p:sp>
      <p:sp>
        <p:nvSpPr>
          <p:cNvPr id="13" name="Titre 1"/>
          <p:cNvSpPr txBox="1">
            <a:spLocks/>
          </p:cNvSpPr>
          <p:nvPr/>
        </p:nvSpPr>
        <p:spPr>
          <a:xfrm>
            <a:off x="323744"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رِئَةُ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4" name="Titre 1"/>
          <p:cNvSpPr txBox="1">
            <a:spLocks/>
          </p:cNvSpPr>
          <p:nvPr/>
        </p:nvSpPr>
        <p:spPr>
          <a:xfrm>
            <a:off x="6948480"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فيروس</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2645840"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النَاسِ</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9" name="Titre 1"/>
          <p:cNvSpPr txBox="1">
            <a:spLocks/>
          </p:cNvSpPr>
          <p:nvPr/>
        </p:nvSpPr>
        <p:spPr>
          <a:xfrm>
            <a:off x="4788240"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وَجْهَ</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4" name="Rectangle 3"/>
          <p:cNvSpPr/>
          <p:nvPr/>
        </p:nvSpPr>
        <p:spPr>
          <a:xfrm>
            <a:off x="6264296" y="2600908"/>
            <a:ext cx="1548064" cy="8280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637338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360040" y="1556793"/>
            <a:ext cx="8532440" cy="122413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r>
              <a:rPr lang="ar-DZ" sz="5400" cap="none" spc="0" dirty="0" smtClean="0">
                <a:solidFill>
                  <a:schemeClr val="tx1"/>
                </a:solidFill>
                <a:latin typeface="Arabic Typesetting" pitchFamily="66" charset="-78"/>
                <a:cs typeface="Arabic Typesetting" pitchFamily="66" charset="-78"/>
              </a:rPr>
              <a:t>  </a:t>
            </a:r>
            <a:r>
              <a:rPr lang="ar-DZ" sz="5400" b="1" cap="none" spc="0" dirty="0" smtClean="0">
                <a:solidFill>
                  <a:schemeClr val="tx1"/>
                </a:solidFill>
                <a:latin typeface="Arabic Typesetting" pitchFamily="66" charset="-78"/>
                <a:cs typeface="Arabic Typesetting" pitchFamily="66" charset="-78"/>
              </a:rPr>
              <a:t>تَظهَرُ أعراض الكُورُونَا بَينَ يَومَينِ إِلَى 14  ___  مِنَ العَدْوَى </a:t>
            </a:r>
            <a:endParaRPr lang="fr-FR" sz="5400" b="1" cap="none" spc="0" dirty="0">
              <a:solidFill>
                <a:schemeClr val="tx1"/>
              </a:solidFill>
              <a:latin typeface="Arabic Typesetting" pitchFamily="66" charset="-78"/>
              <a:cs typeface="Arabic Typesetting" pitchFamily="66" charset="-78"/>
            </a:endParaRPr>
          </a:p>
        </p:txBody>
      </p:sp>
      <p:sp>
        <p:nvSpPr>
          <p:cNvPr id="13" name="Titre 1"/>
          <p:cNvSpPr txBox="1">
            <a:spLocks/>
          </p:cNvSpPr>
          <p:nvPr/>
        </p:nvSpPr>
        <p:spPr>
          <a:xfrm>
            <a:off x="323744"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جَمِيلَةٌ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4" name="Titre 1"/>
          <p:cNvSpPr txBox="1">
            <a:spLocks/>
          </p:cNvSpPr>
          <p:nvPr/>
        </p:nvSpPr>
        <p:spPr>
          <a:xfrm>
            <a:off x="4788240"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خَطِيرَةٌ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6948264"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يَوْمًا</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9" name="Titre 1"/>
          <p:cNvSpPr txBox="1">
            <a:spLocks/>
          </p:cNvSpPr>
          <p:nvPr/>
        </p:nvSpPr>
        <p:spPr>
          <a:xfrm>
            <a:off x="2555776"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يَذْهَبَ</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4860032" y="116633"/>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7</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اختر الكلمات المناسبة لملء الفراغ</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9" name="Rectangle 8"/>
          <p:cNvSpPr/>
          <p:nvPr/>
        </p:nvSpPr>
        <p:spPr>
          <a:xfrm>
            <a:off x="1043608" y="968687"/>
            <a:ext cx="1332040" cy="8280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4753727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360040" y="1700808"/>
            <a:ext cx="8532440" cy="122413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r>
              <a:rPr lang="ar-DZ" sz="5400" cap="none" spc="0" dirty="0" smtClean="0">
                <a:solidFill>
                  <a:schemeClr val="tx1"/>
                </a:solidFill>
                <a:latin typeface="Arabic Typesetting" pitchFamily="66" charset="-78"/>
                <a:cs typeface="Arabic Typesetting" pitchFamily="66" charset="-78"/>
              </a:rPr>
              <a:t>  </a:t>
            </a:r>
            <a:r>
              <a:rPr lang="ar-DZ" sz="5400" b="1" cap="none" spc="0" dirty="0" smtClean="0">
                <a:solidFill>
                  <a:schemeClr val="tx1"/>
                </a:solidFill>
                <a:latin typeface="Arabic Typesetting" pitchFamily="66" charset="-78"/>
                <a:cs typeface="Arabic Typesetting" pitchFamily="66" charset="-78"/>
              </a:rPr>
              <a:t>تَظهَرُ أعراض الكُورُونَا بَينَ يَومَينِ إِلَى 14 يوما مِنَ </a:t>
            </a:r>
            <a:r>
              <a:rPr lang="ar-DZ" sz="5400" b="1" cap="none" spc="0" dirty="0">
                <a:solidFill>
                  <a:schemeClr val="tx1"/>
                </a:solidFill>
                <a:latin typeface="Arabic Typesetting" pitchFamily="66" charset="-78"/>
                <a:cs typeface="Arabic Typesetting" pitchFamily="66" charset="-78"/>
              </a:rPr>
              <a:t>العَدْوَى وهَذِهِ </a:t>
            </a:r>
            <a:r>
              <a:rPr lang="ar-DZ" sz="5400" b="1" cap="none" spc="0" dirty="0" smtClean="0">
                <a:solidFill>
                  <a:schemeClr val="tx1"/>
                </a:solidFill>
                <a:latin typeface="Arabic Typesetting" pitchFamily="66" charset="-78"/>
                <a:cs typeface="Arabic Typesetting" pitchFamily="66" charset="-78"/>
              </a:rPr>
              <a:t>الأَعرَاضُ  ___</a:t>
            </a:r>
            <a:endParaRPr lang="fr-FR" sz="5400" b="1" cap="none" spc="0" dirty="0">
              <a:solidFill>
                <a:schemeClr val="tx1"/>
              </a:solidFill>
              <a:latin typeface="Arabic Typesetting" pitchFamily="66" charset="-78"/>
              <a:cs typeface="Arabic Typesetting" pitchFamily="66" charset="-78"/>
            </a:endParaRPr>
          </a:p>
        </p:txBody>
      </p:sp>
      <p:sp>
        <p:nvSpPr>
          <p:cNvPr id="13" name="Titre 1"/>
          <p:cNvSpPr txBox="1">
            <a:spLocks/>
          </p:cNvSpPr>
          <p:nvPr/>
        </p:nvSpPr>
        <p:spPr>
          <a:xfrm>
            <a:off x="323744"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جَمِيلَةٌ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4" name="Titre 1"/>
          <p:cNvSpPr txBox="1">
            <a:spLocks/>
          </p:cNvSpPr>
          <p:nvPr/>
        </p:nvSpPr>
        <p:spPr>
          <a:xfrm>
            <a:off x="4788240"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خَطِيرَةٌ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6948264"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يَوْمًا</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9" name="Titre 1"/>
          <p:cNvSpPr txBox="1">
            <a:spLocks/>
          </p:cNvSpPr>
          <p:nvPr/>
        </p:nvSpPr>
        <p:spPr>
          <a:xfrm>
            <a:off x="2555776"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يَذْهَبَ</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4860032" y="116633"/>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7</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اختر الكلمات المناسبة لملء الفراغ</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9" name="Rectangle 8"/>
          <p:cNvSpPr/>
          <p:nvPr/>
        </p:nvSpPr>
        <p:spPr>
          <a:xfrm>
            <a:off x="3923928" y="2024845"/>
            <a:ext cx="1332040" cy="8280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909581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360040" y="3140969"/>
            <a:ext cx="8532440" cy="1224136"/>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r>
              <a:rPr lang="ar-DZ" sz="5400" b="1" cap="none" spc="0" dirty="0" smtClean="0">
                <a:solidFill>
                  <a:schemeClr val="tx1"/>
                </a:solidFill>
                <a:latin typeface="Arabic Typesetting" pitchFamily="66" charset="-78"/>
                <a:cs typeface="Arabic Typesetting" pitchFamily="66" charset="-78"/>
              </a:rPr>
              <a:t>تَظهَرُ أعراض الكُورُونَا بَينَ يَومَينِ إِلَى 14 يوما مِنَ </a:t>
            </a:r>
            <a:r>
              <a:rPr lang="ar-DZ" sz="5400" b="1" cap="none" spc="0" dirty="0">
                <a:solidFill>
                  <a:schemeClr val="tx1"/>
                </a:solidFill>
                <a:latin typeface="Arabic Typesetting" pitchFamily="66" charset="-78"/>
                <a:cs typeface="Arabic Typesetting" pitchFamily="66" charset="-78"/>
              </a:rPr>
              <a:t>العَدْوَى وهَذِهِ الأَعرَاضُ </a:t>
            </a:r>
            <a:r>
              <a:rPr lang="ar-DZ" sz="5400" b="1" cap="none" spc="0" dirty="0" smtClean="0">
                <a:solidFill>
                  <a:schemeClr val="tx1"/>
                </a:solidFill>
                <a:latin typeface="Arabic Typesetting" pitchFamily="66" charset="-78"/>
                <a:cs typeface="Arabic Typesetting" pitchFamily="66" charset="-78"/>
              </a:rPr>
              <a:t>خطيرة، </a:t>
            </a:r>
            <a:r>
              <a:rPr lang="ar-DZ" sz="5400" b="1" cap="none" spc="0" dirty="0">
                <a:solidFill>
                  <a:schemeClr val="tx1"/>
                </a:solidFill>
                <a:latin typeface="Arabic Typesetting" pitchFamily="66" charset="-78"/>
                <a:cs typeface="Arabic Typesetting" pitchFamily="66" charset="-78"/>
              </a:rPr>
              <a:t>يَجِبُ عَلَى المَرِيضِ أَنْ </a:t>
            </a:r>
            <a:r>
              <a:rPr lang="ar-DZ" sz="5400" b="1" cap="none" spc="0" dirty="0" smtClean="0">
                <a:solidFill>
                  <a:schemeClr val="tx1"/>
                </a:solidFill>
                <a:latin typeface="Arabic Typesetting" pitchFamily="66" charset="-78"/>
                <a:cs typeface="Arabic Typesetting" pitchFamily="66" charset="-78"/>
              </a:rPr>
              <a:t>___  </a:t>
            </a:r>
            <a:r>
              <a:rPr lang="ar-DZ" sz="5400" b="1" cap="none" spc="0" dirty="0">
                <a:solidFill>
                  <a:schemeClr val="tx1"/>
                </a:solidFill>
                <a:latin typeface="Arabic Typesetting" pitchFamily="66" charset="-78"/>
                <a:cs typeface="Arabic Typesetting" pitchFamily="66" charset="-78"/>
              </a:rPr>
              <a:t>لِلطَبِيبِ</a:t>
            </a:r>
            <a:endParaRPr lang="fr-FR" sz="5400" b="1" cap="none" spc="0" dirty="0">
              <a:solidFill>
                <a:schemeClr val="tx1"/>
              </a:solidFill>
              <a:latin typeface="Arabic Typesetting" pitchFamily="66" charset="-78"/>
              <a:cs typeface="Arabic Typesetting" pitchFamily="66" charset="-78"/>
            </a:endParaRPr>
          </a:p>
          <a:p>
            <a:pPr algn="just" rtl="1"/>
            <a:endParaRPr lang="fr-FR" sz="5400" b="1" cap="none" spc="0" dirty="0">
              <a:solidFill>
                <a:schemeClr val="tx1"/>
              </a:solidFill>
              <a:latin typeface="Arabic Typesetting" pitchFamily="66" charset="-78"/>
              <a:cs typeface="Arabic Typesetting" pitchFamily="66" charset="-78"/>
            </a:endParaRPr>
          </a:p>
        </p:txBody>
      </p:sp>
      <p:sp>
        <p:nvSpPr>
          <p:cNvPr id="13" name="Titre 1"/>
          <p:cNvSpPr txBox="1">
            <a:spLocks/>
          </p:cNvSpPr>
          <p:nvPr/>
        </p:nvSpPr>
        <p:spPr>
          <a:xfrm>
            <a:off x="323744"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جَمِيلَةٌ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4" name="Titre 1"/>
          <p:cNvSpPr txBox="1">
            <a:spLocks/>
          </p:cNvSpPr>
          <p:nvPr/>
        </p:nvSpPr>
        <p:spPr>
          <a:xfrm>
            <a:off x="4788240"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خَطِيرَةٌ</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6948264"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يَوْمًا</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9" name="Titre 1"/>
          <p:cNvSpPr txBox="1">
            <a:spLocks/>
          </p:cNvSpPr>
          <p:nvPr/>
        </p:nvSpPr>
        <p:spPr>
          <a:xfrm>
            <a:off x="2555776" y="4473256"/>
            <a:ext cx="1944000" cy="126000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يَذْهَبَ</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4860032" y="116633"/>
            <a:ext cx="4032448"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775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7</a:t>
            </a:r>
            <a:r>
              <a:rPr lang="ar-DZ" sz="4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اختر الكلمات المناسبة لملء الفراغ</a:t>
            </a:r>
            <a:endParaRPr lang="fr-FR" sz="4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9" name="Rectangle 8"/>
          <p:cNvSpPr/>
          <p:nvPr/>
        </p:nvSpPr>
        <p:spPr>
          <a:xfrm>
            <a:off x="7632448" y="2600908"/>
            <a:ext cx="1332040" cy="82809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8703024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1043608" y="2545146"/>
            <a:ext cx="7200800" cy="7920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lnSpc>
                <a:spcPct val="120000"/>
              </a:lnSpc>
            </a:pPr>
            <a:r>
              <a:rPr lang="ar-DZ" sz="60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فهم النص</a:t>
            </a:r>
          </a:p>
          <a:p>
            <a:pPr lvl="0" algn="ctr" rtl="1">
              <a:spcBef>
                <a:spcPts val="0"/>
              </a:spcBef>
            </a:pPr>
            <a:r>
              <a:rPr lang="ar-DZ"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(لا </a:t>
            </a: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تظهر في التطبيق)</a:t>
            </a:r>
            <a:endParaRPr lang="fr-FR"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endParaRPr>
          </a:p>
        </p:txBody>
      </p:sp>
    </p:spTree>
    <p:extLst>
      <p:ext uri="{BB962C8B-B14F-4D97-AF65-F5344CB8AC3E}">
        <p14:creationId xmlns:p14="http://schemas.microsoft.com/office/powerpoint/2010/main" val="232614581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144016" y="2636913"/>
            <a:ext cx="8892480" cy="27363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endParaRPr lang="fr-FR" cap="none" spc="0" dirty="0" smtClean="0">
              <a:solidFill>
                <a:schemeClr val="tx1"/>
              </a:solidFill>
              <a:latin typeface="Arabic Typesetting" pitchFamily="66" charset="-78"/>
              <a:cs typeface="Arabic Typesetting" pitchFamily="66" charset="-78"/>
            </a:endParaRPr>
          </a:p>
          <a:p>
            <a:pPr algn="ctr" rtl="1"/>
            <a:r>
              <a:rPr lang="ar-SA" sz="5400" b="1" dirty="0" smtClean="0">
                <a:solidFill>
                  <a:schemeClr val="tx1"/>
                </a:solidFill>
                <a:latin typeface="Arabic Typesetting" pitchFamily="66" charset="-78"/>
                <a:cs typeface="Arabic Typesetting" pitchFamily="66" charset="-78"/>
              </a:rPr>
              <a:t>حادث</a:t>
            </a:r>
            <a:r>
              <a:rPr lang="ar-DZ" sz="5400" b="1" dirty="0">
                <a:solidFill>
                  <a:schemeClr val="tx1"/>
                </a:solidFill>
                <a:latin typeface="Arabic Typesetting" pitchFamily="66" charset="-78"/>
                <a:cs typeface="Arabic Typesetting" pitchFamily="66" charset="-78"/>
              </a:rPr>
              <a:t> </a:t>
            </a:r>
            <a:r>
              <a:rPr lang="ar-SA" sz="5400" b="1" dirty="0" smtClean="0">
                <a:solidFill>
                  <a:schemeClr val="tx1"/>
                </a:solidFill>
                <a:latin typeface="Arabic Typesetting" pitchFamily="66" charset="-78"/>
                <a:cs typeface="Arabic Typesetting" pitchFamily="66" charset="-78"/>
              </a:rPr>
              <a:t>مرور</a:t>
            </a:r>
            <a:r>
              <a:rPr lang="ar-DZ" sz="5400" b="1" dirty="0" smtClean="0">
                <a:solidFill>
                  <a:schemeClr val="tx1"/>
                </a:solidFill>
                <a:latin typeface="Arabic Typesetting" pitchFamily="66" charset="-78"/>
                <a:cs typeface="Arabic Typesetting" pitchFamily="66" charset="-78"/>
              </a:rPr>
              <a:t> </a:t>
            </a:r>
            <a:r>
              <a:rPr lang="ar-DZ" sz="2400" b="1" cap="none" spc="0" dirty="0" smtClean="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rPr>
              <a:t>(لا تخضع للوقت حتى الضغط على انتهيت)</a:t>
            </a:r>
            <a:endParaRPr lang="fr-FR" sz="2400" b="1" cap="none" spc="0" dirty="0">
              <a:ln w="1905"/>
              <a:solidFill>
                <a:srgbClr val="FF0000"/>
              </a:solidFill>
              <a:effectLst>
                <a:innerShdw blurRad="69850" dist="43180" dir="5400000">
                  <a:srgbClr val="000000">
                    <a:alpha val="65000"/>
                  </a:srgbClr>
                </a:innerShdw>
              </a:effectLst>
              <a:latin typeface="Arabic Typesetting" pitchFamily="66" charset="-78"/>
              <a:cs typeface="Arabic Typesetting" pitchFamily="66" charset="-78"/>
            </a:endParaRPr>
          </a:p>
          <a:p>
            <a:pPr algn="just" rtl="1"/>
            <a:r>
              <a:rPr lang="ar-SA" sz="4000" dirty="0">
                <a:solidFill>
                  <a:schemeClr val="tx1"/>
                </a:solidFill>
                <a:latin typeface="Arabic Typesetting" pitchFamily="66" charset="-78"/>
                <a:cs typeface="Arabic Typesetting" pitchFamily="66" charset="-78"/>
              </a:rPr>
              <a:t>وقع حادث مرور مؤلم، حيث اصطدمت سيارة بشاحنة، وذلك مساء اليوم أمام المسجد، وقد كان الحادث بسبب التجاوز الخطير الذي قام به سائق السيارة، وفي الحال تجمع الناس وحضرت سيارة الإسعاف و</a:t>
            </a:r>
            <a:r>
              <a:rPr lang="ar-DZ" sz="4000" dirty="0">
                <a:solidFill>
                  <a:schemeClr val="tx1"/>
                </a:solidFill>
                <a:latin typeface="Arabic Typesetting" pitchFamily="66" charset="-78"/>
                <a:cs typeface="Arabic Typesetting" pitchFamily="66" charset="-78"/>
              </a:rPr>
              <a:t>رجال </a:t>
            </a:r>
            <a:r>
              <a:rPr lang="ar-SA" sz="4000" dirty="0">
                <a:solidFill>
                  <a:schemeClr val="tx1"/>
                </a:solidFill>
                <a:latin typeface="Arabic Typesetting" pitchFamily="66" charset="-78"/>
                <a:cs typeface="Arabic Typesetting" pitchFamily="66" charset="-78"/>
              </a:rPr>
              <a:t>الشرطة، الذين </a:t>
            </a:r>
            <a:r>
              <a:rPr lang="ar-SA" sz="4000" dirty="0" smtClean="0">
                <a:solidFill>
                  <a:schemeClr val="tx1"/>
                </a:solidFill>
                <a:latin typeface="Arabic Typesetting" pitchFamily="66" charset="-78"/>
                <a:cs typeface="Arabic Typesetting" pitchFamily="66" charset="-78"/>
              </a:rPr>
              <a:t>أخ</a:t>
            </a:r>
            <a:r>
              <a:rPr lang="ar-DZ" sz="4000" dirty="0" smtClean="0">
                <a:solidFill>
                  <a:schemeClr val="tx1"/>
                </a:solidFill>
                <a:latin typeface="Arabic Typesetting" pitchFamily="66" charset="-78"/>
                <a:cs typeface="Arabic Typesetting" pitchFamily="66" charset="-78"/>
              </a:rPr>
              <a:t>ذ</a:t>
            </a:r>
            <a:r>
              <a:rPr lang="ar-SA" sz="4000" dirty="0" err="1" smtClean="0">
                <a:solidFill>
                  <a:schemeClr val="tx1"/>
                </a:solidFill>
                <a:latin typeface="Arabic Typesetting" pitchFamily="66" charset="-78"/>
                <a:cs typeface="Arabic Typesetting" pitchFamily="66" charset="-78"/>
              </a:rPr>
              <a:t>وا</a:t>
            </a:r>
            <a:r>
              <a:rPr lang="ar-SA" sz="4000" dirty="0" smtClean="0">
                <a:solidFill>
                  <a:schemeClr val="tx1"/>
                </a:solidFill>
                <a:latin typeface="Arabic Typesetting" pitchFamily="66" charset="-78"/>
                <a:cs typeface="Arabic Typesetting" pitchFamily="66" charset="-78"/>
              </a:rPr>
              <a:t> </a:t>
            </a:r>
            <a:r>
              <a:rPr lang="ar-SA" sz="4000" dirty="0">
                <a:solidFill>
                  <a:schemeClr val="tx1"/>
                </a:solidFill>
                <a:latin typeface="Arabic Typesetting" pitchFamily="66" charset="-78"/>
                <a:cs typeface="Arabic Typesetting" pitchFamily="66" charset="-78"/>
              </a:rPr>
              <a:t>ينظمون حركة السيارات، بينما </a:t>
            </a:r>
            <a:r>
              <a:rPr lang="ar-DZ" sz="4000" dirty="0">
                <a:solidFill>
                  <a:schemeClr val="tx1"/>
                </a:solidFill>
                <a:latin typeface="Arabic Typesetting" pitchFamily="66" charset="-78"/>
                <a:cs typeface="Arabic Typesetting" pitchFamily="66" charset="-78"/>
              </a:rPr>
              <a:t>بدأ</a:t>
            </a:r>
            <a:r>
              <a:rPr lang="ar-SA" sz="4000" dirty="0">
                <a:solidFill>
                  <a:schemeClr val="tx1"/>
                </a:solidFill>
                <a:latin typeface="Arabic Typesetting" pitchFamily="66" charset="-78"/>
                <a:cs typeface="Arabic Typesetting" pitchFamily="66" charset="-78"/>
              </a:rPr>
              <a:t> رجال الإسعاف في إخراج المصابين من السيارة </a:t>
            </a:r>
            <a:r>
              <a:rPr lang="ar-DZ" sz="4000" dirty="0">
                <a:solidFill>
                  <a:schemeClr val="tx1"/>
                </a:solidFill>
                <a:latin typeface="Arabic Typesetting" pitchFamily="66" charset="-78"/>
                <a:cs typeface="Arabic Typesetting" pitchFamily="66" charset="-78"/>
              </a:rPr>
              <a:t>و</a:t>
            </a:r>
            <a:r>
              <a:rPr lang="ar-SA" sz="4000" dirty="0">
                <a:solidFill>
                  <a:schemeClr val="tx1"/>
                </a:solidFill>
                <a:latin typeface="Arabic Typesetting" pitchFamily="66" charset="-78"/>
                <a:cs typeface="Arabic Typesetting" pitchFamily="66" charset="-78"/>
              </a:rPr>
              <a:t>نقلهم إلى المستشفى، لقد حزنت كثيرة لما حدث وقلت: حقا في التأني السلامة وفي العجلة الندامة، فلو أدرك السائق العواقب لاحترم قوانين المرور. </a:t>
            </a:r>
          </a:p>
          <a:p>
            <a:pPr algn="just" rtl="1"/>
            <a:r>
              <a:rPr lang="ar-DZ" sz="2800" cap="none" spc="0" dirty="0" smtClean="0">
                <a:solidFill>
                  <a:schemeClr val="tx1"/>
                </a:solidFill>
                <a:latin typeface="Arabic Typesetting" pitchFamily="66" charset="-78"/>
                <a:cs typeface="Arabic Typesetting" pitchFamily="66" charset="-78"/>
              </a:rPr>
              <a:t>________________________________________________</a:t>
            </a:r>
            <a:endParaRPr lang="fr-FR" sz="2800" cap="none" spc="0" dirty="0" smtClean="0">
              <a:solidFill>
                <a:schemeClr val="tx1"/>
              </a:solidFill>
              <a:latin typeface="Arabic Typesetting" pitchFamily="66" charset="-78"/>
              <a:cs typeface="Arabic Typesetting" pitchFamily="66" charset="-78"/>
            </a:endParaRPr>
          </a:p>
        </p:txBody>
      </p:sp>
      <p:sp>
        <p:nvSpPr>
          <p:cNvPr id="8" name="Titre 1"/>
          <p:cNvSpPr txBox="1">
            <a:spLocks/>
          </p:cNvSpPr>
          <p:nvPr/>
        </p:nvSpPr>
        <p:spPr>
          <a:xfrm>
            <a:off x="4860032" y="116633"/>
            <a:ext cx="4032448" cy="57606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8</a:t>
            </a: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اقرأ النص وأجب عن السؤال</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9" name="Titre 1"/>
          <p:cNvSpPr txBox="1">
            <a:spLocks/>
          </p:cNvSpPr>
          <p:nvPr/>
        </p:nvSpPr>
        <p:spPr>
          <a:xfrm>
            <a:off x="3491880" y="5409360"/>
            <a:ext cx="1944000" cy="971968"/>
          </a:xfrm>
          <a:prstGeom prst="rect">
            <a:avLst/>
          </a:prstGeom>
          <a:ln/>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54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انتهيت</a:t>
            </a:r>
            <a:endParaRPr lang="fr-FR" sz="54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Tree>
    <p:extLst>
      <p:ext uri="{BB962C8B-B14F-4D97-AF65-F5344CB8AC3E}">
        <p14:creationId xmlns:p14="http://schemas.microsoft.com/office/powerpoint/2010/main" val="64334046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144016" y="476673"/>
            <a:ext cx="8892480" cy="27363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endParaRPr lang="fr-FR" cap="none" spc="0" dirty="0" smtClean="0">
              <a:solidFill>
                <a:schemeClr val="tx1"/>
              </a:solidFill>
              <a:latin typeface="Arabic Typesetting" pitchFamily="66" charset="-78"/>
              <a:cs typeface="Arabic Typesetting" pitchFamily="66" charset="-78"/>
            </a:endParaRPr>
          </a:p>
          <a:p>
            <a:pPr algn="ctr" rtl="1"/>
            <a:r>
              <a:rPr lang="ar-SA" sz="4000" b="1" dirty="0" smtClean="0">
                <a:solidFill>
                  <a:schemeClr val="tx1"/>
                </a:solidFill>
                <a:latin typeface="Arabic Typesetting" pitchFamily="66" charset="-78"/>
                <a:cs typeface="Arabic Typesetting" pitchFamily="66" charset="-78"/>
              </a:rPr>
              <a:t>حادث</a:t>
            </a:r>
            <a:r>
              <a:rPr lang="ar-DZ" sz="4000" b="1" dirty="0">
                <a:solidFill>
                  <a:schemeClr val="tx1"/>
                </a:solidFill>
                <a:latin typeface="Arabic Typesetting" pitchFamily="66" charset="-78"/>
                <a:cs typeface="Arabic Typesetting" pitchFamily="66" charset="-78"/>
              </a:rPr>
              <a:t> </a:t>
            </a:r>
            <a:r>
              <a:rPr lang="ar-SA" sz="4000" b="1" dirty="0" smtClean="0">
                <a:solidFill>
                  <a:schemeClr val="tx1"/>
                </a:solidFill>
                <a:latin typeface="Arabic Typesetting" pitchFamily="66" charset="-78"/>
                <a:cs typeface="Arabic Typesetting" pitchFamily="66" charset="-78"/>
              </a:rPr>
              <a:t>مرور</a:t>
            </a:r>
            <a:endParaRPr lang="fr-FR" sz="4000" b="1" dirty="0">
              <a:solidFill>
                <a:schemeClr val="tx1"/>
              </a:solidFill>
              <a:latin typeface="Arabic Typesetting" pitchFamily="66" charset="-78"/>
              <a:cs typeface="Arabic Typesetting" pitchFamily="66" charset="-78"/>
            </a:endParaRPr>
          </a:p>
          <a:p>
            <a:pPr algn="just" rtl="1"/>
            <a:r>
              <a:rPr lang="ar-SA" sz="2800" dirty="0">
                <a:solidFill>
                  <a:schemeClr val="tx1"/>
                </a:solidFill>
                <a:latin typeface="Arabic Typesetting" pitchFamily="66" charset="-78"/>
                <a:cs typeface="Arabic Typesetting" pitchFamily="66" charset="-78"/>
              </a:rPr>
              <a:t>وقع حادث مرور مؤلم، حيث اصطدمت سيارة بشاحنة، وذلك مساء اليوم أمام المسجد، وقد كان الحادث بسبب التجاوز الخطير الذي قام به سائق السيارة، وفي الحال تجمع الناس وحضرت سيارة الإسعاف و</a:t>
            </a:r>
            <a:r>
              <a:rPr lang="ar-DZ" sz="2800" dirty="0">
                <a:solidFill>
                  <a:schemeClr val="tx1"/>
                </a:solidFill>
                <a:latin typeface="Arabic Typesetting" pitchFamily="66" charset="-78"/>
                <a:cs typeface="Arabic Typesetting" pitchFamily="66" charset="-78"/>
              </a:rPr>
              <a:t>رجال </a:t>
            </a:r>
            <a:r>
              <a:rPr lang="ar-SA" sz="2800" dirty="0">
                <a:solidFill>
                  <a:schemeClr val="tx1"/>
                </a:solidFill>
                <a:latin typeface="Arabic Typesetting" pitchFamily="66" charset="-78"/>
                <a:cs typeface="Arabic Typesetting" pitchFamily="66" charset="-78"/>
              </a:rPr>
              <a:t>الشرطة، الذين أخدوا ينظمون حركة السيارات، بينما </a:t>
            </a:r>
            <a:r>
              <a:rPr lang="ar-DZ" sz="2800" dirty="0">
                <a:solidFill>
                  <a:schemeClr val="tx1"/>
                </a:solidFill>
                <a:latin typeface="Arabic Typesetting" pitchFamily="66" charset="-78"/>
                <a:cs typeface="Arabic Typesetting" pitchFamily="66" charset="-78"/>
              </a:rPr>
              <a:t>بدأ</a:t>
            </a:r>
            <a:r>
              <a:rPr lang="ar-SA" sz="2800" dirty="0">
                <a:solidFill>
                  <a:schemeClr val="tx1"/>
                </a:solidFill>
                <a:latin typeface="Arabic Typesetting" pitchFamily="66" charset="-78"/>
                <a:cs typeface="Arabic Typesetting" pitchFamily="66" charset="-78"/>
              </a:rPr>
              <a:t> رجال الإسعاف في إخراج المصابين من السيارة </a:t>
            </a:r>
            <a:r>
              <a:rPr lang="ar-DZ" sz="2800" dirty="0">
                <a:solidFill>
                  <a:schemeClr val="tx1"/>
                </a:solidFill>
                <a:latin typeface="Arabic Typesetting" pitchFamily="66" charset="-78"/>
                <a:cs typeface="Arabic Typesetting" pitchFamily="66" charset="-78"/>
              </a:rPr>
              <a:t>و</a:t>
            </a:r>
            <a:r>
              <a:rPr lang="ar-SA" sz="2800" dirty="0">
                <a:solidFill>
                  <a:schemeClr val="tx1"/>
                </a:solidFill>
                <a:latin typeface="Arabic Typesetting" pitchFamily="66" charset="-78"/>
                <a:cs typeface="Arabic Typesetting" pitchFamily="66" charset="-78"/>
              </a:rPr>
              <a:t>نقلهم إلى المستشفى، لقد حزنت كثيرة لما حدث وقلت: حقا في التأني السلامة وفي العجلة الندامة، فلو أدرك السائق العواقب لاحترم قوانين المرور. </a:t>
            </a:r>
            <a:endParaRPr lang="ar-DZ" sz="2800" dirty="0" smtClean="0">
              <a:solidFill>
                <a:schemeClr val="tx1"/>
              </a:solidFill>
              <a:latin typeface="Arabic Typesetting" pitchFamily="66" charset="-78"/>
              <a:cs typeface="Arabic Typesetting" pitchFamily="66" charset="-78"/>
            </a:endParaRPr>
          </a:p>
          <a:p>
            <a:pPr algn="just" rtl="1"/>
            <a:r>
              <a:rPr lang="ar-DZ" sz="2800" cap="none" spc="0" dirty="0" smtClean="0">
                <a:solidFill>
                  <a:schemeClr val="tx1"/>
                </a:solidFill>
                <a:latin typeface="Arabic Typesetting" pitchFamily="66" charset="-78"/>
                <a:cs typeface="Arabic Typesetting" pitchFamily="66" charset="-78"/>
              </a:rPr>
              <a:t>________________________________________________</a:t>
            </a:r>
            <a:endParaRPr lang="fr-FR" sz="2800" cap="none" spc="0" dirty="0" smtClean="0">
              <a:solidFill>
                <a:schemeClr val="tx1"/>
              </a:solidFill>
              <a:latin typeface="Arabic Typesetting" pitchFamily="66" charset="-78"/>
              <a:cs typeface="Arabic Typesetting" pitchFamily="66" charset="-78"/>
            </a:endParaRPr>
          </a:p>
        </p:txBody>
      </p:sp>
      <p:sp>
        <p:nvSpPr>
          <p:cNvPr id="8" name="Titre 1"/>
          <p:cNvSpPr txBox="1">
            <a:spLocks/>
          </p:cNvSpPr>
          <p:nvPr/>
        </p:nvSpPr>
        <p:spPr>
          <a:xfrm>
            <a:off x="4860032" y="44625"/>
            <a:ext cx="4032448" cy="57606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8</a:t>
            </a: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اقرأ النص وأجب عن السؤال</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2" name="Rectangle 1"/>
          <p:cNvSpPr/>
          <p:nvPr/>
        </p:nvSpPr>
        <p:spPr>
          <a:xfrm>
            <a:off x="4320264" y="3369186"/>
            <a:ext cx="4572000" cy="707886"/>
          </a:xfrm>
          <a:prstGeom prst="rect">
            <a:avLst/>
          </a:prstGeom>
        </p:spPr>
        <p:txBody>
          <a:bodyPr>
            <a:spAutoFit/>
          </a:bodyPr>
          <a:lstStyle/>
          <a:p>
            <a:pPr lvl="0" algn="r" rtl="1"/>
            <a:r>
              <a:rPr lang="ar-SA" sz="4000" b="1" dirty="0">
                <a:latin typeface="Arabic Typesetting" pitchFamily="66" charset="-78"/>
                <a:cs typeface="Arabic Typesetting" pitchFamily="66" charset="-78"/>
              </a:rPr>
              <a:t>من سبب الحادثة؟ </a:t>
            </a:r>
            <a:endParaRPr lang="fr-FR" sz="4000" b="1" dirty="0">
              <a:latin typeface="Arabic Typesetting" pitchFamily="66" charset="-78"/>
              <a:cs typeface="Arabic Typesetting" pitchFamily="66" charset="-78"/>
            </a:endParaRPr>
          </a:p>
        </p:txBody>
      </p:sp>
      <p:pic>
        <p:nvPicPr>
          <p:cNvPr id="1026" name="Picture 2" descr="C:\Users\Oussama\Desktop\b2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56176" y="422108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Oussama\Desktop\b2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9592" y="422132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2" name="Picture 5" descr="C:\Users\Oussama\Desktop\b25.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91880" y="4221328"/>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29131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p:cNvSpPr txBox="1">
            <a:spLocks/>
          </p:cNvSpPr>
          <p:nvPr/>
        </p:nvSpPr>
        <p:spPr>
          <a:xfrm>
            <a:off x="4860032" y="44625"/>
            <a:ext cx="4032448" cy="57606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8</a:t>
            </a: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اقرأ النص وأجب عن السؤال</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2" name="Rectangle 1"/>
          <p:cNvSpPr/>
          <p:nvPr/>
        </p:nvSpPr>
        <p:spPr>
          <a:xfrm>
            <a:off x="4320264" y="3369186"/>
            <a:ext cx="4572000" cy="707886"/>
          </a:xfrm>
          <a:prstGeom prst="rect">
            <a:avLst/>
          </a:prstGeom>
        </p:spPr>
        <p:txBody>
          <a:bodyPr>
            <a:spAutoFit/>
          </a:bodyPr>
          <a:lstStyle/>
          <a:p>
            <a:pPr lvl="0" algn="r" rtl="1"/>
            <a:r>
              <a:rPr lang="ar-DZ" sz="4000" b="1" dirty="0" smtClean="0">
                <a:latin typeface="Arabic Typesetting" pitchFamily="66" charset="-78"/>
                <a:cs typeface="Arabic Typesetting" pitchFamily="66" charset="-78"/>
              </a:rPr>
              <a:t>ماذا اصطدم بالشاحنة</a:t>
            </a:r>
            <a:r>
              <a:rPr lang="ar-SA" sz="4000" b="1" dirty="0" smtClean="0">
                <a:latin typeface="Arabic Typesetting" pitchFamily="66" charset="-78"/>
                <a:cs typeface="Arabic Typesetting" pitchFamily="66" charset="-78"/>
              </a:rPr>
              <a:t>؟ </a:t>
            </a:r>
            <a:endParaRPr lang="fr-FR" sz="4000" b="1" dirty="0">
              <a:latin typeface="Arabic Typesetting" pitchFamily="66" charset="-78"/>
              <a:cs typeface="Arabic Typesetting" pitchFamily="66" charset="-78"/>
            </a:endParaRPr>
          </a:p>
        </p:txBody>
      </p:sp>
      <p:pic>
        <p:nvPicPr>
          <p:cNvPr id="2051" name="Picture 3" descr="C:\Users\Oussama\Desktop\b2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7864" y="414908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2" name="Picture 4" descr="C:\Users\Oussama\Desktop\b3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414908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2" name="Picture 4" descr="C:\Users\Oussama\Desktop\b28.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5576" y="4149080"/>
            <a:ext cx="2160000" cy="21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9" name="Titre 1"/>
          <p:cNvSpPr txBox="1">
            <a:spLocks/>
          </p:cNvSpPr>
          <p:nvPr/>
        </p:nvSpPr>
        <p:spPr>
          <a:xfrm>
            <a:off x="144016" y="404664"/>
            <a:ext cx="8892480" cy="27363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endParaRPr lang="fr-FR" cap="none" spc="0" dirty="0" smtClean="0">
              <a:solidFill>
                <a:schemeClr val="tx1"/>
              </a:solidFill>
              <a:latin typeface="Arabic Typesetting" pitchFamily="66" charset="-78"/>
              <a:cs typeface="Arabic Typesetting" pitchFamily="66" charset="-78"/>
            </a:endParaRPr>
          </a:p>
          <a:p>
            <a:pPr algn="ctr" rtl="1"/>
            <a:r>
              <a:rPr lang="ar-SA" sz="4000" b="1" dirty="0" smtClean="0">
                <a:solidFill>
                  <a:schemeClr val="tx1"/>
                </a:solidFill>
                <a:latin typeface="Arabic Typesetting" pitchFamily="66" charset="-78"/>
                <a:cs typeface="Arabic Typesetting" pitchFamily="66" charset="-78"/>
              </a:rPr>
              <a:t>حادث</a:t>
            </a:r>
            <a:r>
              <a:rPr lang="ar-DZ" sz="4000" b="1" dirty="0" smtClean="0">
                <a:solidFill>
                  <a:schemeClr val="tx1"/>
                </a:solidFill>
                <a:latin typeface="Arabic Typesetting" pitchFamily="66" charset="-78"/>
                <a:cs typeface="Arabic Typesetting" pitchFamily="66" charset="-78"/>
              </a:rPr>
              <a:t> </a:t>
            </a:r>
            <a:r>
              <a:rPr lang="ar-SA" sz="4000" b="1" dirty="0" smtClean="0">
                <a:solidFill>
                  <a:schemeClr val="tx1"/>
                </a:solidFill>
                <a:latin typeface="Arabic Typesetting" pitchFamily="66" charset="-78"/>
                <a:cs typeface="Arabic Typesetting" pitchFamily="66" charset="-78"/>
              </a:rPr>
              <a:t>مرور</a:t>
            </a:r>
            <a:endParaRPr lang="fr-FR" sz="4000" b="1" dirty="0">
              <a:solidFill>
                <a:schemeClr val="tx1"/>
              </a:solidFill>
              <a:latin typeface="Arabic Typesetting" pitchFamily="66" charset="-78"/>
              <a:cs typeface="Arabic Typesetting" pitchFamily="66" charset="-78"/>
            </a:endParaRPr>
          </a:p>
          <a:p>
            <a:pPr algn="just" rtl="1"/>
            <a:r>
              <a:rPr lang="ar-SA" sz="2800" dirty="0">
                <a:solidFill>
                  <a:schemeClr val="tx1"/>
                </a:solidFill>
                <a:latin typeface="Arabic Typesetting" pitchFamily="66" charset="-78"/>
                <a:cs typeface="Arabic Typesetting" pitchFamily="66" charset="-78"/>
              </a:rPr>
              <a:t>وقع حادث مرور مؤلم، حيث اصطدمت سيارة بشاحنة، وذلك مساء اليوم أمام المسجد، وقد كان الحادث بسبب التجاوز الخطير الذي قام به سائق السيارة، وفي الحال تجمع الناس وحضرت سيارة الإسعاف و</a:t>
            </a:r>
            <a:r>
              <a:rPr lang="ar-DZ" sz="2800" dirty="0">
                <a:solidFill>
                  <a:schemeClr val="tx1"/>
                </a:solidFill>
                <a:latin typeface="Arabic Typesetting" pitchFamily="66" charset="-78"/>
                <a:cs typeface="Arabic Typesetting" pitchFamily="66" charset="-78"/>
              </a:rPr>
              <a:t>رجال </a:t>
            </a:r>
            <a:r>
              <a:rPr lang="ar-SA" sz="2800" dirty="0">
                <a:solidFill>
                  <a:schemeClr val="tx1"/>
                </a:solidFill>
                <a:latin typeface="Arabic Typesetting" pitchFamily="66" charset="-78"/>
                <a:cs typeface="Arabic Typesetting" pitchFamily="66" charset="-78"/>
              </a:rPr>
              <a:t>الشرطة، الذين أخدوا ينظمون حركة السيارات، بينما </a:t>
            </a:r>
            <a:r>
              <a:rPr lang="ar-DZ" sz="2800" dirty="0">
                <a:solidFill>
                  <a:schemeClr val="tx1"/>
                </a:solidFill>
                <a:latin typeface="Arabic Typesetting" pitchFamily="66" charset="-78"/>
                <a:cs typeface="Arabic Typesetting" pitchFamily="66" charset="-78"/>
              </a:rPr>
              <a:t>بدأ</a:t>
            </a:r>
            <a:r>
              <a:rPr lang="ar-SA" sz="2800" dirty="0">
                <a:solidFill>
                  <a:schemeClr val="tx1"/>
                </a:solidFill>
                <a:latin typeface="Arabic Typesetting" pitchFamily="66" charset="-78"/>
                <a:cs typeface="Arabic Typesetting" pitchFamily="66" charset="-78"/>
              </a:rPr>
              <a:t> رجال الإسعاف في إخراج المصابين من السيارة </a:t>
            </a:r>
            <a:r>
              <a:rPr lang="ar-DZ" sz="2800" dirty="0">
                <a:solidFill>
                  <a:schemeClr val="tx1"/>
                </a:solidFill>
                <a:latin typeface="Arabic Typesetting" pitchFamily="66" charset="-78"/>
                <a:cs typeface="Arabic Typesetting" pitchFamily="66" charset="-78"/>
              </a:rPr>
              <a:t>و</a:t>
            </a:r>
            <a:r>
              <a:rPr lang="ar-SA" sz="2800" dirty="0">
                <a:solidFill>
                  <a:schemeClr val="tx1"/>
                </a:solidFill>
                <a:latin typeface="Arabic Typesetting" pitchFamily="66" charset="-78"/>
                <a:cs typeface="Arabic Typesetting" pitchFamily="66" charset="-78"/>
              </a:rPr>
              <a:t>نقلهم إلى المستشفى، لقد حزنت كثيرة لما حدث وقلت: حقا في التأني السلامة وفي العجلة الندامة، فلو أدرك السائق العواقب لاحترم قوانين المرور. </a:t>
            </a:r>
            <a:endParaRPr lang="ar-DZ" sz="2800" dirty="0" smtClean="0">
              <a:solidFill>
                <a:schemeClr val="tx1"/>
              </a:solidFill>
              <a:latin typeface="Arabic Typesetting" pitchFamily="66" charset="-78"/>
              <a:cs typeface="Arabic Typesetting" pitchFamily="66" charset="-78"/>
            </a:endParaRPr>
          </a:p>
          <a:p>
            <a:pPr algn="just" rtl="1"/>
            <a:r>
              <a:rPr lang="ar-DZ" sz="2800" cap="none" spc="0" dirty="0" smtClean="0">
                <a:solidFill>
                  <a:schemeClr val="tx1"/>
                </a:solidFill>
                <a:latin typeface="Arabic Typesetting" pitchFamily="66" charset="-78"/>
                <a:cs typeface="Arabic Typesetting" pitchFamily="66" charset="-78"/>
              </a:rPr>
              <a:t>________________________________________________</a:t>
            </a:r>
            <a:endParaRPr lang="fr-FR" sz="2800" cap="none" spc="0" dirty="0" smtClean="0">
              <a:solidFill>
                <a:schemeClr val="tx1"/>
              </a:solidFill>
              <a:latin typeface="Arabic Typesetting" pitchFamily="66" charset="-78"/>
              <a:cs typeface="Arabic Typesetting" pitchFamily="66" charset="-78"/>
            </a:endParaRPr>
          </a:p>
        </p:txBody>
      </p:sp>
    </p:spTree>
    <p:extLst>
      <p:ext uri="{BB962C8B-B14F-4D97-AF65-F5344CB8AC3E}">
        <p14:creationId xmlns:p14="http://schemas.microsoft.com/office/powerpoint/2010/main" val="370040018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
          <p:cNvSpPr txBox="1">
            <a:spLocks/>
          </p:cNvSpPr>
          <p:nvPr/>
        </p:nvSpPr>
        <p:spPr>
          <a:xfrm>
            <a:off x="323744" y="4833296"/>
            <a:ext cx="1944000" cy="666144"/>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3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مساء الأمس</a:t>
            </a:r>
            <a:endParaRPr lang="fr-FR" sz="3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4" name="Titre 1"/>
          <p:cNvSpPr txBox="1">
            <a:spLocks/>
          </p:cNvSpPr>
          <p:nvPr/>
        </p:nvSpPr>
        <p:spPr>
          <a:xfrm>
            <a:off x="4788240" y="4833296"/>
            <a:ext cx="1944000" cy="666144"/>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3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صباح اليوم</a:t>
            </a:r>
            <a:endParaRPr lang="fr-FR" sz="3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5" name="Titre 1"/>
          <p:cNvSpPr txBox="1">
            <a:spLocks/>
          </p:cNvSpPr>
          <p:nvPr/>
        </p:nvSpPr>
        <p:spPr>
          <a:xfrm>
            <a:off x="6948264" y="4833296"/>
            <a:ext cx="1944000" cy="666144"/>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3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صباح الأمس</a:t>
            </a:r>
            <a:endParaRPr lang="fr-FR" sz="3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9" name="Titre 1"/>
          <p:cNvSpPr txBox="1">
            <a:spLocks/>
          </p:cNvSpPr>
          <p:nvPr/>
        </p:nvSpPr>
        <p:spPr>
          <a:xfrm>
            <a:off x="2555776" y="4851088"/>
            <a:ext cx="1944000" cy="666144"/>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32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مساء اليوم</a:t>
            </a:r>
            <a:endParaRPr lang="fr-FR" sz="32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4860032" y="44625"/>
            <a:ext cx="4032448" cy="57606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8</a:t>
            </a: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اقرأ النص وأجب عن السؤال</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2" name="Rectangle 1"/>
          <p:cNvSpPr/>
          <p:nvPr/>
        </p:nvSpPr>
        <p:spPr>
          <a:xfrm>
            <a:off x="4320264" y="3369186"/>
            <a:ext cx="4572000" cy="707886"/>
          </a:xfrm>
          <a:prstGeom prst="rect">
            <a:avLst/>
          </a:prstGeom>
        </p:spPr>
        <p:txBody>
          <a:bodyPr>
            <a:spAutoFit/>
          </a:bodyPr>
          <a:lstStyle/>
          <a:p>
            <a:pPr lvl="0" algn="r" rtl="1"/>
            <a:r>
              <a:rPr lang="ar-DZ" sz="4000" b="1" dirty="0" smtClean="0">
                <a:latin typeface="Arabic Typesetting" pitchFamily="66" charset="-78"/>
                <a:cs typeface="Arabic Typesetting" pitchFamily="66" charset="-78"/>
              </a:rPr>
              <a:t>متى وقعت الحادثة</a:t>
            </a:r>
            <a:r>
              <a:rPr lang="ar-SA" sz="4000" b="1" dirty="0" smtClean="0">
                <a:latin typeface="Arabic Typesetting" pitchFamily="66" charset="-78"/>
                <a:cs typeface="Arabic Typesetting" pitchFamily="66" charset="-78"/>
              </a:rPr>
              <a:t>؟ </a:t>
            </a:r>
            <a:endParaRPr lang="fr-FR" sz="4000" b="1" dirty="0">
              <a:latin typeface="Arabic Typesetting" pitchFamily="66" charset="-78"/>
              <a:cs typeface="Arabic Typesetting" pitchFamily="66" charset="-78"/>
            </a:endParaRPr>
          </a:p>
        </p:txBody>
      </p:sp>
      <p:sp>
        <p:nvSpPr>
          <p:cNvPr id="9" name="Titre 1"/>
          <p:cNvSpPr txBox="1">
            <a:spLocks/>
          </p:cNvSpPr>
          <p:nvPr/>
        </p:nvSpPr>
        <p:spPr>
          <a:xfrm>
            <a:off x="144016" y="476673"/>
            <a:ext cx="8892480" cy="27363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endParaRPr lang="fr-FR" cap="none" spc="0" dirty="0" smtClean="0">
              <a:solidFill>
                <a:schemeClr val="tx1"/>
              </a:solidFill>
              <a:latin typeface="Arabic Typesetting" pitchFamily="66" charset="-78"/>
              <a:cs typeface="Arabic Typesetting" pitchFamily="66" charset="-78"/>
            </a:endParaRPr>
          </a:p>
          <a:p>
            <a:pPr algn="ctr" rtl="1"/>
            <a:r>
              <a:rPr lang="ar-SA" sz="4000" b="1" dirty="0" smtClean="0">
                <a:solidFill>
                  <a:schemeClr val="tx1"/>
                </a:solidFill>
                <a:latin typeface="Arabic Typesetting" pitchFamily="66" charset="-78"/>
                <a:cs typeface="Arabic Typesetting" pitchFamily="66" charset="-78"/>
              </a:rPr>
              <a:t>حادث</a:t>
            </a:r>
            <a:r>
              <a:rPr lang="ar-DZ" sz="4000" b="1" dirty="0">
                <a:solidFill>
                  <a:schemeClr val="tx1"/>
                </a:solidFill>
                <a:latin typeface="Arabic Typesetting" pitchFamily="66" charset="-78"/>
                <a:cs typeface="Arabic Typesetting" pitchFamily="66" charset="-78"/>
              </a:rPr>
              <a:t> </a:t>
            </a:r>
            <a:r>
              <a:rPr lang="ar-SA" sz="4000" b="1" dirty="0" smtClean="0">
                <a:solidFill>
                  <a:schemeClr val="tx1"/>
                </a:solidFill>
                <a:latin typeface="Arabic Typesetting" pitchFamily="66" charset="-78"/>
                <a:cs typeface="Arabic Typesetting" pitchFamily="66" charset="-78"/>
              </a:rPr>
              <a:t>مرور</a:t>
            </a:r>
            <a:endParaRPr lang="fr-FR" sz="4000" b="1" dirty="0">
              <a:solidFill>
                <a:schemeClr val="tx1"/>
              </a:solidFill>
              <a:latin typeface="Arabic Typesetting" pitchFamily="66" charset="-78"/>
              <a:cs typeface="Arabic Typesetting" pitchFamily="66" charset="-78"/>
            </a:endParaRPr>
          </a:p>
          <a:p>
            <a:pPr algn="just" rtl="1"/>
            <a:r>
              <a:rPr lang="ar-SA" sz="2800" dirty="0">
                <a:solidFill>
                  <a:schemeClr val="tx1"/>
                </a:solidFill>
                <a:latin typeface="Arabic Typesetting" pitchFamily="66" charset="-78"/>
                <a:cs typeface="Arabic Typesetting" pitchFamily="66" charset="-78"/>
              </a:rPr>
              <a:t>وقع حادث مرور مؤلم، حيث اصطدمت سيارة بشاحنة، وذلك مساء اليوم أمام المسجد، وقد كان الحادث بسبب التجاوز الخطير الذي قام به سائق السيارة، وفي الحال تجمع الناس وحضرت سيارة الإسعاف و</a:t>
            </a:r>
            <a:r>
              <a:rPr lang="ar-DZ" sz="2800" dirty="0">
                <a:solidFill>
                  <a:schemeClr val="tx1"/>
                </a:solidFill>
                <a:latin typeface="Arabic Typesetting" pitchFamily="66" charset="-78"/>
                <a:cs typeface="Arabic Typesetting" pitchFamily="66" charset="-78"/>
              </a:rPr>
              <a:t>رجال </a:t>
            </a:r>
            <a:r>
              <a:rPr lang="ar-SA" sz="2800" dirty="0">
                <a:solidFill>
                  <a:schemeClr val="tx1"/>
                </a:solidFill>
                <a:latin typeface="Arabic Typesetting" pitchFamily="66" charset="-78"/>
                <a:cs typeface="Arabic Typesetting" pitchFamily="66" charset="-78"/>
              </a:rPr>
              <a:t>الشرطة، الذين أخدوا ينظمون حركة السيارات، بينما </a:t>
            </a:r>
            <a:r>
              <a:rPr lang="ar-DZ" sz="2800" dirty="0">
                <a:solidFill>
                  <a:schemeClr val="tx1"/>
                </a:solidFill>
                <a:latin typeface="Arabic Typesetting" pitchFamily="66" charset="-78"/>
                <a:cs typeface="Arabic Typesetting" pitchFamily="66" charset="-78"/>
              </a:rPr>
              <a:t>بدأ</a:t>
            </a:r>
            <a:r>
              <a:rPr lang="ar-SA" sz="2800" dirty="0">
                <a:solidFill>
                  <a:schemeClr val="tx1"/>
                </a:solidFill>
                <a:latin typeface="Arabic Typesetting" pitchFamily="66" charset="-78"/>
                <a:cs typeface="Arabic Typesetting" pitchFamily="66" charset="-78"/>
              </a:rPr>
              <a:t> رجال الإسعاف في إخراج المصابين من السيارة </a:t>
            </a:r>
            <a:r>
              <a:rPr lang="ar-DZ" sz="2800" dirty="0">
                <a:solidFill>
                  <a:schemeClr val="tx1"/>
                </a:solidFill>
                <a:latin typeface="Arabic Typesetting" pitchFamily="66" charset="-78"/>
                <a:cs typeface="Arabic Typesetting" pitchFamily="66" charset="-78"/>
              </a:rPr>
              <a:t>و</a:t>
            </a:r>
            <a:r>
              <a:rPr lang="ar-SA" sz="2800" dirty="0">
                <a:solidFill>
                  <a:schemeClr val="tx1"/>
                </a:solidFill>
                <a:latin typeface="Arabic Typesetting" pitchFamily="66" charset="-78"/>
                <a:cs typeface="Arabic Typesetting" pitchFamily="66" charset="-78"/>
              </a:rPr>
              <a:t>نقلهم إلى المستشفى، لقد حزنت كثيرة لما حدث وقلت: حقا في التأني السلامة وفي العجلة الندامة، فلو أدرك السائق العواقب لاحترم قوانين المرور. </a:t>
            </a:r>
            <a:endParaRPr lang="ar-DZ" sz="2800" dirty="0" smtClean="0">
              <a:solidFill>
                <a:schemeClr val="tx1"/>
              </a:solidFill>
              <a:latin typeface="Arabic Typesetting" pitchFamily="66" charset="-78"/>
              <a:cs typeface="Arabic Typesetting" pitchFamily="66" charset="-78"/>
            </a:endParaRPr>
          </a:p>
          <a:p>
            <a:pPr algn="just" rtl="1"/>
            <a:r>
              <a:rPr lang="ar-DZ" sz="2800" cap="none" spc="0" dirty="0" smtClean="0">
                <a:solidFill>
                  <a:schemeClr val="tx1"/>
                </a:solidFill>
                <a:latin typeface="Arabic Typesetting" pitchFamily="66" charset="-78"/>
                <a:cs typeface="Arabic Typesetting" pitchFamily="66" charset="-78"/>
              </a:rPr>
              <a:t>________________________________________________</a:t>
            </a:r>
            <a:endParaRPr lang="fr-FR" sz="2800" cap="none" spc="0" dirty="0" smtClean="0">
              <a:solidFill>
                <a:schemeClr val="tx1"/>
              </a:solidFill>
              <a:latin typeface="Arabic Typesetting" pitchFamily="66" charset="-78"/>
              <a:cs typeface="Arabic Typesetting" pitchFamily="66" charset="-78"/>
            </a:endParaRPr>
          </a:p>
        </p:txBody>
      </p:sp>
    </p:spTree>
    <p:extLst>
      <p:ext uri="{BB962C8B-B14F-4D97-AF65-F5344CB8AC3E}">
        <p14:creationId xmlns:p14="http://schemas.microsoft.com/office/powerpoint/2010/main" val="219883505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re 1"/>
          <p:cNvSpPr txBox="1">
            <a:spLocks/>
          </p:cNvSpPr>
          <p:nvPr/>
        </p:nvSpPr>
        <p:spPr>
          <a:xfrm>
            <a:off x="6228184" y="4077072"/>
            <a:ext cx="2664296" cy="864096"/>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 المستشفى</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8" name="Titre 1"/>
          <p:cNvSpPr txBox="1">
            <a:spLocks/>
          </p:cNvSpPr>
          <p:nvPr/>
        </p:nvSpPr>
        <p:spPr>
          <a:xfrm>
            <a:off x="4860032" y="44625"/>
            <a:ext cx="4032448" cy="57606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8</a:t>
            </a: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اقرأ النص وأجب عن السؤال</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2" name="Rectangle 1"/>
          <p:cNvSpPr/>
          <p:nvPr/>
        </p:nvSpPr>
        <p:spPr>
          <a:xfrm>
            <a:off x="4320264" y="3369186"/>
            <a:ext cx="4572000" cy="707886"/>
          </a:xfrm>
          <a:prstGeom prst="rect">
            <a:avLst/>
          </a:prstGeom>
        </p:spPr>
        <p:txBody>
          <a:bodyPr>
            <a:spAutoFit/>
          </a:bodyPr>
          <a:lstStyle/>
          <a:p>
            <a:pPr lvl="0" algn="r" rtl="1"/>
            <a:r>
              <a:rPr lang="ar-DZ" sz="4000" b="1" dirty="0" smtClean="0">
                <a:latin typeface="Arabic Typesetting" pitchFamily="66" charset="-78"/>
                <a:cs typeface="Arabic Typesetting" pitchFamily="66" charset="-78"/>
              </a:rPr>
              <a:t>أين وقعت الحادثة</a:t>
            </a:r>
            <a:r>
              <a:rPr lang="ar-SA" sz="4000" b="1" dirty="0" smtClean="0">
                <a:latin typeface="Arabic Typesetting" pitchFamily="66" charset="-78"/>
                <a:cs typeface="Arabic Typesetting" pitchFamily="66" charset="-78"/>
              </a:rPr>
              <a:t>؟ </a:t>
            </a:r>
            <a:endParaRPr lang="fr-FR" sz="4000" b="1" dirty="0">
              <a:latin typeface="Arabic Typesetting" pitchFamily="66" charset="-78"/>
              <a:cs typeface="Arabic Typesetting" pitchFamily="66" charset="-78"/>
            </a:endParaRPr>
          </a:p>
        </p:txBody>
      </p:sp>
      <p:sp>
        <p:nvSpPr>
          <p:cNvPr id="9" name="Titre 1"/>
          <p:cNvSpPr txBox="1">
            <a:spLocks/>
          </p:cNvSpPr>
          <p:nvPr/>
        </p:nvSpPr>
        <p:spPr>
          <a:xfrm>
            <a:off x="6228184" y="5085184"/>
            <a:ext cx="2664296" cy="864096"/>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أمام المستشفى</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3275856" y="4077072"/>
            <a:ext cx="2664296" cy="864096"/>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 المنزل</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1" name="Titre 1"/>
          <p:cNvSpPr txBox="1">
            <a:spLocks/>
          </p:cNvSpPr>
          <p:nvPr/>
        </p:nvSpPr>
        <p:spPr>
          <a:xfrm>
            <a:off x="3275856" y="5085184"/>
            <a:ext cx="2664296" cy="864096"/>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أمام المسجد</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2" name="Titre 1"/>
          <p:cNvSpPr txBox="1">
            <a:spLocks/>
          </p:cNvSpPr>
          <p:nvPr/>
        </p:nvSpPr>
        <p:spPr>
          <a:xfrm>
            <a:off x="251520" y="4077072"/>
            <a:ext cx="2664296" cy="864096"/>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 المسجد</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6" name="Titre 1"/>
          <p:cNvSpPr txBox="1">
            <a:spLocks/>
          </p:cNvSpPr>
          <p:nvPr/>
        </p:nvSpPr>
        <p:spPr>
          <a:xfrm>
            <a:off x="251520" y="5085184"/>
            <a:ext cx="2664296" cy="864096"/>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أمام المنزل</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144016" y="476673"/>
            <a:ext cx="8892480" cy="27363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SA" sz="4000" b="1" dirty="0" smtClean="0">
                <a:solidFill>
                  <a:schemeClr val="tx1"/>
                </a:solidFill>
                <a:latin typeface="Arabic Typesetting" pitchFamily="66" charset="-78"/>
                <a:cs typeface="Arabic Typesetting" pitchFamily="66" charset="-78"/>
              </a:rPr>
              <a:t>حادث</a:t>
            </a:r>
            <a:r>
              <a:rPr lang="ar-DZ" sz="4000" b="1" dirty="0" smtClean="0">
                <a:solidFill>
                  <a:schemeClr val="tx1"/>
                </a:solidFill>
                <a:latin typeface="Arabic Typesetting" pitchFamily="66" charset="-78"/>
                <a:cs typeface="Arabic Typesetting" pitchFamily="66" charset="-78"/>
              </a:rPr>
              <a:t> </a:t>
            </a:r>
            <a:r>
              <a:rPr lang="ar-SA" sz="4000" b="1" dirty="0" smtClean="0">
                <a:solidFill>
                  <a:schemeClr val="tx1"/>
                </a:solidFill>
                <a:latin typeface="Arabic Typesetting" pitchFamily="66" charset="-78"/>
                <a:cs typeface="Arabic Typesetting" pitchFamily="66" charset="-78"/>
              </a:rPr>
              <a:t>مرور</a:t>
            </a:r>
            <a:endParaRPr lang="fr-FR" sz="4000" b="1" dirty="0">
              <a:solidFill>
                <a:schemeClr val="tx1"/>
              </a:solidFill>
              <a:latin typeface="Arabic Typesetting" pitchFamily="66" charset="-78"/>
              <a:cs typeface="Arabic Typesetting" pitchFamily="66" charset="-78"/>
            </a:endParaRPr>
          </a:p>
          <a:p>
            <a:pPr algn="just" rtl="1"/>
            <a:r>
              <a:rPr lang="ar-SA" sz="2800" dirty="0">
                <a:solidFill>
                  <a:schemeClr val="tx1"/>
                </a:solidFill>
                <a:latin typeface="Arabic Typesetting" pitchFamily="66" charset="-78"/>
                <a:cs typeface="Arabic Typesetting" pitchFamily="66" charset="-78"/>
              </a:rPr>
              <a:t>وقع حادث مرور مؤلم، حيث اصطدمت سيارة بشاحنة، وذلك مساء اليوم أمام المسجد، وقد كان الحادث بسبب التجاوز الخطير الذي قام به سائق السيارة، وفي الحال تجمع الناس وحضرت سيارة الإسعاف و</a:t>
            </a:r>
            <a:r>
              <a:rPr lang="ar-DZ" sz="2800" dirty="0">
                <a:solidFill>
                  <a:schemeClr val="tx1"/>
                </a:solidFill>
                <a:latin typeface="Arabic Typesetting" pitchFamily="66" charset="-78"/>
                <a:cs typeface="Arabic Typesetting" pitchFamily="66" charset="-78"/>
              </a:rPr>
              <a:t>رجال </a:t>
            </a:r>
            <a:r>
              <a:rPr lang="ar-SA" sz="2800" dirty="0">
                <a:solidFill>
                  <a:schemeClr val="tx1"/>
                </a:solidFill>
                <a:latin typeface="Arabic Typesetting" pitchFamily="66" charset="-78"/>
                <a:cs typeface="Arabic Typesetting" pitchFamily="66" charset="-78"/>
              </a:rPr>
              <a:t>الشرطة، الذين أخدوا ينظمون حركة السيارات، بينما </a:t>
            </a:r>
            <a:r>
              <a:rPr lang="ar-DZ" sz="2800" dirty="0">
                <a:solidFill>
                  <a:schemeClr val="tx1"/>
                </a:solidFill>
                <a:latin typeface="Arabic Typesetting" pitchFamily="66" charset="-78"/>
                <a:cs typeface="Arabic Typesetting" pitchFamily="66" charset="-78"/>
              </a:rPr>
              <a:t>بدأ</a:t>
            </a:r>
            <a:r>
              <a:rPr lang="ar-SA" sz="2800" dirty="0">
                <a:solidFill>
                  <a:schemeClr val="tx1"/>
                </a:solidFill>
                <a:latin typeface="Arabic Typesetting" pitchFamily="66" charset="-78"/>
                <a:cs typeface="Arabic Typesetting" pitchFamily="66" charset="-78"/>
              </a:rPr>
              <a:t> رجال الإسعاف في إخراج المصابين من السيارة </a:t>
            </a:r>
            <a:r>
              <a:rPr lang="ar-DZ" sz="2800" dirty="0">
                <a:solidFill>
                  <a:schemeClr val="tx1"/>
                </a:solidFill>
                <a:latin typeface="Arabic Typesetting" pitchFamily="66" charset="-78"/>
                <a:cs typeface="Arabic Typesetting" pitchFamily="66" charset="-78"/>
              </a:rPr>
              <a:t>و</a:t>
            </a:r>
            <a:r>
              <a:rPr lang="ar-SA" sz="2800" dirty="0">
                <a:solidFill>
                  <a:schemeClr val="tx1"/>
                </a:solidFill>
                <a:latin typeface="Arabic Typesetting" pitchFamily="66" charset="-78"/>
                <a:cs typeface="Arabic Typesetting" pitchFamily="66" charset="-78"/>
              </a:rPr>
              <a:t>نقلهم إلى المستشفى، لقد حزنت كثيرة لما حدث وقلت: حقا في التأني السلامة وفي العجلة الندامة، فلو أدرك السائق العواقب لاحترم قوانين المرور. </a:t>
            </a:r>
            <a:endParaRPr lang="ar-DZ" sz="2800" dirty="0" smtClean="0">
              <a:solidFill>
                <a:schemeClr val="tx1"/>
              </a:solidFill>
              <a:latin typeface="Arabic Typesetting" pitchFamily="66" charset="-78"/>
              <a:cs typeface="Arabic Typesetting" pitchFamily="66" charset="-78"/>
            </a:endParaRPr>
          </a:p>
          <a:p>
            <a:pPr algn="just" rtl="1"/>
            <a:r>
              <a:rPr lang="ar-DZ" sz="2800" cap="none" spc="0" dirty="0" smtClean="0">
                <a:solidFill>
                  <a:schemeClr val="tx1"/>
                </a:solidFill>
                <a:latin typeface="Arabic Typesetting" pitchFamily="66" charset="-78"/>
                <a:cs typeface="Arabic Typesetting" pitchFamily="66" charset="-78"/>
              </a:rPr>
              <a:t>________________________________________________</a:t>
            </a:r>
            <a:endParaRPr lang="fr-FR" sz="2800" cap="none" spc="0" dirty="0" smtClean="0">
              <a:solidFill>
                <a:schemeClr val="tx1"/>
              </a:solidFill>
              <a:latin typeface="Arabic Typesetting" pitchFamily="66" charset="-78"/>
              <a:cs typeface="Arabic Typesetting" pitchFamily="66" charset="-78"/>
            </a:endParaRPr>
          </a:p>
        </p:txBody>
      </p:sp>
    </p:spTree>
    <p:extLst>
      <p:ext uri="{BB962C8B-B14F-4D97-AF65-F5344CB8AC3E}">
        <p14:creationId xmlns:p14="http://schemas.microsoft.com/office/powerpoint/2010/main" val="343713224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p:cNvSpPr txBox="1">
            <a:spLocks/>
          </p:cNvSpPr>
          <p:nvPr/>
        </p:nvSpPr>
        <p:spPr>
          <a:xfrm>
            <a:off x="4860032" y="44625"/>
            <a:ext cx="4032448" cy="57606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8</a:t>
            </a: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اقرأ النص وأجب عن السؤال</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2" name="Rectangle 1"/>
          <p:cNvSpPr/>
          <p:nvPr/>
        </p:nvSpPr>
        <p:spPr>
          <a:xfrm>
            <a:off x="4320264" y="3369186"/>
            <a:ext cx="4572000" cy="707886"/>
          </a:xfrm>
          <a:prstGeom prst="rect">
            <a:avLst/>
          </a:prstGeom>
        </p:spPr>
        <p:txBody>
          <a:bodyPr>
            <a:spAutoFit/>
          </a:bodyPr>
          <a:lstStyle/>
          <a:p>
            <a:pPr lvl="0" algn="r" rtl="1"/>
            <a:r>
              <a:rPr lang="ar-SA" sz="4000" b="1" dirty="0" smtClean="0">
                <a:latin typeface="Arabic Typesetting" pitchFamily="66" charset="-78"/>
                <a:cs typeface="Arabic Typesetting" pitchFamily="66" charset="-78"/>
              </a:rPr>
              <a:t>م</a:t>
            </a:r>
            <a:r>
              <a:rPr lang="ar-DZ" sz="4000" b="1" dirty="0" smtClean="0">
                <a:latin typeface="Arabic Typesetting" pitchFamily="66" charset="-78"/>
                <a:cs typeface="Arabic Typesetting" pitchFamily="66" charset="-78"/>
              </a:rPr>
              <a:t>اذا فعل رجال الاسعاف</a:t>
            </a:r>
            <a:r>
              <a:rPr lang="ar-SA" sz="4000" b="1" dirty="0" smtClean="0">
                <a:latin typeface="Arabic Typesetting" pitchFamily="66" charset="-78"/>
                <a:cs typeface="Arabic Typesetting" pitchFamily="66" charset="-78"/>
              </a:rPr>
              <a:t>؟ </a:t>
            </a:r>
            <a:endParaRPr lang="fr-FR" sz="4000" b="1" dirty="0">
              <a:latin typeface="Arabic Typesetting" pitchFamily="66" charset="-78"/>
              <a:cs typeface="Arabic Typesetting" pitchFamily="66" charset="-78"/>
            </a:endParaRPr>
          </a:p>
        </p:txBody>
      </p:sp>
      <p:sp>
        <p:nvSpPr>
          <p:cNvPr id="9" name="Titre 1"/>
          <p:cNvSpPr txBox="1">
            <a:spLocks/>
          </p:cNvSpPr>
          <p:nvPr/>
        </p:nvSpPr>
        <p:spPr>
          <a:xfrm>
            <a:off x="755576" y="5293699"/>
            <a:ext cx="3672408"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3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اخراج المصلين من المسجد</a:t>
            </a:r>
            <a:endParaRPr lang="fr-FR" sz="3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1" name="Titre 1"/>
          <p:cNvSpPr txBox="1">
            <a:spLocks/>
          </p:cNvSpPr>
          <p:nvPr/>
        </p:nvSpPr>
        <p:spPr>
          <a:xfrm>
            <a:off x="4572000" y="5293699"/>
            <a:ext cx="3672408"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3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تنظيم حركة السيارات</a:t>
            </a:r>
            <a:endParaRPr lang="fr-FR" sz="3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2" name="Titre 1"/>
          <p:cNvSpPr txBox="1">
            <a:spLocks/>
          </p:cNvSpPr>
          <p:nvPr/>
        </p:nvSpPr>
        <p:spPr>
          <a:xfrm>
            <a:off x="4572000" y="4365105"/>
            <a:ext cx="3672408"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3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اطفاء الحريق في السيارة</a:t>
            </a:r>
            <a:endParaRPr lang="fr-FR" sz="3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755576" y="4365105"/>
            <a:ext cx="3672408"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3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اخراج المصابين من السيارة</a:t>
            </a:r>
            <a:endParaRPr lang="fr-FR" sz="3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144016" y="404664"/>
            <a:ext cx="8892480" cy="27363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endParaRPr lang="fr-FR" cap="none" spc="0" dirty="0" smtClean="0">
              <a:solidFill>
                <a:schemeClr val="tx1"/>
              </a:solidFill>
              <a:latin typeface="Arabic Typesetting" pitchFamily="66" charset="-78"/>
              <a:cs typeface="Arabic Typesetting" pitchFamily="66" charset="-78"/>
            </a:endParaRPr>
          </a:p>
          <a:p>
            <a:pPr algn="ctr" rtl="1"/>
            <a:r>
              <a:rPr lang="ar-SA" sz="4000" b="1" dirty="0" smtClean="0">
                <a:solidFill>
                  <a:schemeClr val="tx1"/>
                </a:solidFill>
                <a:latin typeface="Arabic Typesetting" pitchFamily="66" charset="-78"/>
                <a:cs typeface="Arabic Typesetting" pitchFamily="66" charset="-78"/>
              </a:rPr>
              <a:t>حادث</a:t>
            </a:r>
            <a:r>
              <a:rPr lang="ar-DZ" sz="4000" b="1" dirty="0">
                <a:solidFill>
                  <a:schemeClr val="tx1"/>
                </a:solidFill>
                <a:latin typeface="Arabic Typesetting" pitchFamily="66" charset="-78"/>
                <a:cs typeface="Arabic Typesetting" pitchFamily="66" charset="-78"/>
              </a:rPr>
              <a:t> </a:t>
            </a:r>
            <a:r>
              <a:rPr lang="ar-SA" sz="4000" b="1" dirty="0" smtClean="0">
                <a:solidFill>
                  <a:schemeClr val="tx1"/>
                </a:solidFill>
                <a:latin typeface="Arabic Typesetting" pitchFamily="66" charset="-78"/>
                <a:cs typeface="Arabic Typesetting" pitchFamily="66" charset="-78"/>
              </a:rPr>
              <a:t>مرور</a:t>
            </a:r>
            <a:endParaRPr lang="fr-FR" sz="4000" b="1" dirty="0">
              <a:solidFill>
                <a:schemeClr val="tx1"/>
              </a:solidFill>
              <a:latin typeface="Arabic Typesetting" pitchFamily="66" charset="-78"/>
              <a:cs typeface="Arabic Typesetting" pitchFamily="66" charset="-78"/>
            </a:endParaRPr>
          </a:p>
          <a:p>
            <a:pPr algn="just" rtl="1"/>
            <a:r>
              <a:rPr lang="ar-SA" sz="2800" dirty="0">
                <a:solidFill>
                  <a:schemeClr val="tx1"/>
                </a:solidFill>
                <a:latin typeface="Arabic Typesetting" pitchFamily="66" charset="-78"/>
                <a:cs typeface="Arabic Typesetting" pitchFamily="66" charset="-78"/>
              </a:rPr>
              <a:t>وقع حادث مرور مؤلم، حيث اصطدمت سيارة بشاحنة، وذلك مساء اليوم أمام المسجد، وقد كان الحادث بسبب التجاوز الخطير الذي قام به سائق السيارة، وفي الحال تجمع الناس وحضرت سيارة الإسعاف و</a:t>
            </a:r>
            <a:r>
              <a:rPr lang="ar-DZ" sz="2800" dirty="0">
                <a:solidFill>
                  <a:schemeClr val="tx1"/>
                </a:solidFill>
                <a:latin typeface="Arabic Typesetting" pitchFamily="66" charset="-78"/>
                <a:cs typeface="Arabic Typesetting" pitchFamily="66" charset="-78"/>
              </a:rPr>
              <a:t>رجال </a:t>
            </a:r>
            <a:r>
              <a:rPr lang="ar-SA" sz="2800" dirty="0">
                <a:solidFill>
                  <a:schemeClr val="tx1"/>
                </a:solidFill>
                <a:latin typeface="Arabic Typesetting" pitchFamily="66" charset="-78"/>
                <a:cs typeface="Arabic Typesetting" pitchFamily="66" charset="-78"/>
              </a:rPr>
              <a:t>الشرطة، الذين أخدوا ينظمون حركة السيارات، بينما </a:t>
            </a:r>
            <a:r>
              <a:rPr lang="ar-DZ" sz="2800" dirty="0">
                <a:solidFill>
                  <a:schemeClr val="tx1"/>
                </a:solidFill>
                <a:latin typeface="Arabic Typesetting" pitchFamily="66" charset="-78"/>
                <a:cs typeface="Arabic Typesetting" pitchFamily="66" charset="-78"/>
              </a:rPr>
              <a:t>بدأ</a:t>
            </a:r>
            <a:r>
              <a:rPr lang="ar-SA" sz="2800" dirty="0">
                <a:solidFill>
                  <a:schemeClr val="tx1"/>
                </a:solidFill>
                <a:latin typeface="Arabic Typesetting" pitchFamily="66" charset="-78"/>
                <a:cs typeface="Arabic Typesetting" pitchFamily="66" charset="-78"/>
              </a:rPr>
              <a:t> رجال الإسعاف في إخراج المصابين من السيارة </a:t>
            </a:r>
            <a:r>
              <a:rPr lang="ar-DZ" sz="2800" dirty="0">
                <a:solidFill>
                  <a:schemeClr val="tx1"/>
                </a:solidFill>
                <a:latin typeface="Arabic Typesetting" pitchFamily="66" charset="-78"/>
                <a:cs typeface="Arabic Typesetting" pitchFamily="66" charset="-78"/>
              </a:rPr>
              <a:t>و</a:t>
            </a:r>
            <a:r>
              <a:rPr lang="ar-SA" sz="2800" dirty="0">
                <a:solidFill>
                  <a:schemeClr val="tx1"/>
                </a:solidFill>
                <a:latin typeface="Arabic Typesetting" pitchFamily="66" charset="-78"/>
                <a:cs typeface="Arabic Typesetting" pitchFamily="66" charset="-78"/>
              </a:rPr>
              <a:t>نقلهم إلى المستشفى، لقد حزنت كثيرة لما حدث وقلت: حقا في التأني السلامة وفي العجلة الندامة، فلو أدرك السائق العواقب لاحترم قوانين المرور. </a:t>
            </a:r>
            <a:endParaRPr lang="ar-DZ" sz="2800" dirty="0" smtClean="0">
              <a:solidFill>
                <a:schemeClr val="tx1"/>
              </a:solidFill>
              <a:latin typeface="Arabic Typesetting" pitchFamily="66" charset="-78"/>
              <a:cs typeface="Arabic Typesetting" pitchFamily="66" charset="-78"/>
            </a:endParaRPr>
          </a:p>
          <a:p>
            <a:pPr algn="just" rtl="1"/>
            <a:r>
              <a:rPr lang="ar-DZ" sz="2800" cap="none" spc="0" dirty="0" smtClean="0">
                <a:solidFill>
                  <a:schemeClr val="tx1"/>
                </a:solidFill>
                <a:latin typeface="Arabic Typesetting" pitchFamily="66" charset="-78"/>
                <a:cs typeface="Arabic Typesetting" pitchFamily="66" charset="-78"/>
              </a:rPr>
              <a:t>________________________________________________</a:t>
            </a:r>
            <a:endParaRPr lang="fr-FR" sz="2800" cap="none" spc="0" dirty="0" smtClean="0">
              <a:solidFill>
                <a:schemeClr val="tx1"/>
              </a:solidFill>
              <a:latin typeface="Arabic Typesetting" pitchFamily="66" charset="-78"/>
              <a:cs typeface="Arabic Typesetting" pitchFamily="66" charset="-78"/>
            </a:endParaRPr>
          </a:p>
        </p:txBody>
      </p:sp>
    </p:spTree>
    <p:extLst>
      <p:ext uri="{BB962C8B-B14F-4D97-AF65-F5344CB8AC3E}">
        <p14:creationId xmlns:p14="http://schemas.microsoft.com/office/powerpoint/2010/main" val="92461231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p:cNvSpPr txBox="1">
            <a:spLocks/>
          </p:cNvSpPr>
          <p:nvPr/>
        </p:nvSpPr>
        <p:spPr>
          <a:xfrm>
            <a:off x="4860032" y="44625"/>
            <a:ext cx="4032448" cy="57606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8</a:t>
            </a: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اقرأ النص وأجب عن السؤال</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2" name="Rectangle 1"/>
          <p:cNvSpPr/>
          <p:nvPr/>
        </p:nvSpPr>
        <p:spPr>
          <a:xfrm>
            <a:off x="4320264" y="3369186"/>
            <a:ext cx="4572000" cy="707886"/>
          </a:xfrm>
          <a:prstGeom prst="rect">
            <a:avLst/>
          </a:prstGeom>
        </p:spPr>
        <p:txBody>
          <a:bodyPr>
            <a:spAutoFit/>
          </a:bodyPr>
          <a:lstStyle/>
          <a:p>
            <a:pPr lvl="0" algn="r" rtl="1"/>
            <a:r>
              <a:rPr lang="ar-SA" sz="4000" b="1" dirty="0" smtClean="0">
                <a:latin typeface="Arabic Typesetting" pitchFamily="66" charset="-78"/>
                <a:cs typeface="Arabic Typesetting" pitchFamily="66" charset="-78"/>
              </a:rPr>
              <a:t>م</a:t>
            </a:r>
            <a:r>
              <a:rPr lang="ar-DZ" sz="4000" b="1" dirty="0" smtClean="0">
                <a:latin typeface="Arabic Typesetting" pitchFamily="66" charset="-78"/>
                <a:cs typeface="Arabic Typesetting" pitchFamily="66" charset="-78"/>
              </a:rPr>
              <a:t>اذا تعني كلمة العواقب</a:t>
            </a:r>
            <a:r>
              <a:rPr lang="ar-SA" sz="4000" b="1" dirty="0" smtClean="0">
                <a:latin typeface="Arabic Typesetting" pitchFamily="66" charset="-78"/>
                <a:cs typeface="Arabic Typesetting" pitchFamily="66" charset="-78"/>
              </a:rPr>
              <a:t>؟ </a:t>
            </a:r>
            <a:endParaRPr lang="fr-FR" sz="4000" b="1" dirty="0">
              <a:latin typeface="Arabic Typesetting" pitchFamily="66" charset="-78"/>
              <a:cs typeface="Arabic Typesetting" pitchFamily="66" charset="-78"/>
            </a:endParaRPr>
          </a:p>
        </p:txBody>
      </p:sp>
      <p:sp>
        <p:nvSpPr>
          <p:cNvPr id="9" name="Titre 1"/>
          <p:cNvSpPr txBox="1">
            <a:spLocks/>
          </p:cNvSpPr>
          <p:nvPr/>
        </p:nvSpPr>
        <p:spPr>
          <a:xfrm>
            <a:off x="1331641" y="5437716"/>
            <a:ext cx="3083516"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النتائج</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1" name="Titre 1"/>
          <p:cNvSpPr txBox="1">
            <a:spLocks/>
          </p:cNvSpPr>
          <p:nvPr/>
        </p:nvSpPr>
        <p:spPr>
          <a:xfrm>
            <a:off x="4932041" y="5437716"/>
            <a:ext cx="3083516"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السرعة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2" name="Titre 1"/>
          <p:cNvSpPr txBox="1">
            <a:spLocks/>
          </p:cNvSpPr>
          <p:nvPr/>
        </p:nvSpPr>
        <p:spPr>
          <a:xfrm>
            <a:off x="4932041" y="4509121"/>
            <a:ext cx="3083516"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المر</a:t>
            </a:r>
            <a:r>
              <a:rPr lang="ar-DZ" sz="4000" b="1" cap="none" spc="0" dirty="0">
                <a:solidFill>
                  <a:schemeClr val="tx1"/>
                </a:solidFill>
                <a:effectLst>
                  <a:outerShdw blurRad="38100" dist="38100" dir="2700000" algn="tl">
                    <a:srgbClr val="000000">
                      <a:alpha val="43137"/>
                    </a:srgbClr>
                  </a:outerShdw>
                </a:effectLst>
                <a:latin typeface="Arabic Typesetting" pitchFamily="66" charset="-78"/>
                <a:cs typeface="+mj-cs"/>
              </a:rPr>
              <a:t>ي</a:t>
            </a:r>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ض</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1331641" y="4509121"/>
            <a:ext cx="3083516"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المصابين</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144016" y="404664"/>
            <a:ext cx="8892480" cy="27363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endParaRPr lang="fr-FR" cap="none" spc="0" dirty="0" smtClean="0">
              <a:solidFill>
                <a:schemeClr val="tx1"/>
              </a:solidFill>
              <a:latin typeface="Arabic Typesetting" pitchFamily="66" charset="-78"/>
              <a:cs typeface="Arabic Typesetting" pitchFamily="66" charset="-78"/>
            </a:endParaRPr>
          </a:p>
          <a:p>
            <a:pPr algn="ctr" rtl="1"/>
            <a:r>
              <a:rPr lang="ar-SA" sz="4000" b="1" dirty="0" smtClean="0">
                <a:solidFill>
                  <a:schemeClr val="tx1"/>
                </a:solidFill>
                <a:latin typeface="Arabic Typesetting" pitchFamily="66" charset="-78"/>
                <a:cs typeface="Arabic Typesetting" pitchFamily="66" charset="-78"/>
              </a:rPr>
              <a:t>حادث</a:t>
            </a:r>
            <a:r>
              <a:rPr lang="ar-DZ" sz="4000" b="1" dirty="0">
                <a:solidFill>
                  <a:schemeClr val="tx1"/>
                </a:solidFill>
                <a:latin typeface="Arabic Typesetting" pitchFamily="66" charset="-78"/>
                <a:cs typeface="Arabic Typesetting" pitchFamily="66" charset="-78"/>
              </a:rPr>
              <a:t> </a:t>
            </a:r>
            <a:r>
              <a:rPr lang="ar-SA" sz="4000" b="1" dirty="0" smtClean="0">
                <a:solidFill>
                  <a:schemeClr val="tx1"/>
                </a:solidFill>
                <a:latin typeface="Arabic Typesetting" pitchFamily="66" charset="-78"/>
                <a:cs typeface="Arabic Typesetting" pitchFamily="66" charset="-78"/>
              </a:rPr>
              <a:t>مرور</a:t>
            </a:r>
            <a:endParaRPr lang="fr-FR" sz="4000" b="1" dirty="0">
              <a:solidFill>
                <a:schemeClr val="tx1"/>
              </a:solidFill>
              <a:latin typeface="Arabic Typesetting" pitchFamily="66" charset="-78"/>
              <a:cs typeface="Arabic Typesetting" pitchFamily="66" charset="-78"/>
            </a:endParaRPr>
          </a:p>
          <a:p>
            <a:pPr algn="just" rtl="1"/>
            <a:r>
              <a:rPr lang="ar-SA" sz="2800" dirty="0">
                <a:solidFill>
                  <a:schemeClr val="tx1"/>
                </a:solidFill>
                <a:latin typeface="Arabic Typesetting" pitchFamily="66" charset="-78"/>
                <a:cs typeface="Arabic Typesetting" pitchFamily="66" charset="-78"/>
              </a:rPr>
              <a:t>وقع حادث مرور مؤلم، حيث اصطدمت سيارة بشاحنة، وذلك مساء اليوم أمام المسجد، وقد كان الحادث بسبب التجاوز الخطير الذي قام به سائق السيارة، وفي الحال تجمع الناس وحضرت سيارة الإسعاف و</a:t>
            </a:r>
            <a:r>
              <a:rPr lang="ar-DZ" sz="2800" dirty="0">
                <a:solidFill>
                  <a:schemeClr val="tx1"/>
                </a:solidFill>
                <a:latin typeface="Arabic Typesetting" pitchFamily="66" charset="-78"/>
                <a:cs typeface="Arabic Typesetting" pitchFamily="66" charset="-78"/>
              </a:rPr>
              <a:t>رجال </a:t>
            </a:r>
            <a:r>
              <a:rPr lang="ar-SA" sz="2800" dirty="0">
                <a:solidFill>
                  <a:schemeClr val="tx1"/>
                </a:solidFill>
                <a:latin typeface="Arabic Typesetting" pitchFamily="66" charset="-78"/>
                <a:cs typeface="Arabic Typesetting" pitchFamily="66" charset="-78"/>
              </a:rPr>
              <a:t>الشرطة، الذين أخدوا ينظمون حركة السيارات، بينما </a:t>
            </a:r>
            <a:r>
              <a:rPr lang="ar-DZ" sz="2800" dirty="0">
                <a:solidFill>
                  <a:schemeClr val="tx1"/>
                </a:solidFill>
                <a:latin typeface="Arabic Typesetting" pitchFamily="66" charset="-78"/>
                <a:cs typeface="Arabic Typesetting" pitchFamily="66" charset="-78"/>
              </a:rPr>
              <a:t>بدأ</a:t>
            </a:r>
            <a:r>
              <a:rPr lang="ar-SA" sz="2800" dirty="0">
                <a:solidFill>
                  <a:schemeClr val="tx1"/>
                </a:solidFill>
                <a:latin typeface="Arabic Typesetting" pitchFamily="66" charset="-78"/>
                <a:cs typeface="Arabic Typesetting" pitchFamily="66" charset="-78"/>
              </a:rPr>
              <a:t> رجال الإسعاف في إخراج المصابين من السيارة </a:t>
            </a:r>
            <a:r>
              <a:rPr lang="ar-DZ" sz="2800" dirty="0">
                <a:solidFill>
                  <a:schemeClr val="tx1"/>
                </a:solidFill>
                <a:latin typeface="Arabic Typesetting" pitchFamily="66" charset="-78"/>
                <a:cs typeface="Arabic Typesetting" pitchFamily="66" charset="-78"/>
              </a:rPr>
              <a:t>و</a:t>
            </a:r>
            <a:r>
              <a:rPr lang="ar-SA" sz="2800" dirty="0">
                <a:solidFill>
                  <a:schemeClr val="tx1"/>
                </a:solidFill>
                <a:latin typeface="Arabic Typesetting" pitchFamily="66" charset="-78"/>
                <a:cs typeface="Arabic Typesetting" pitchFamily="66" charset="-78"/>
              </a:rPr>
              <a:t>نقلهم إلى المستشفى، لقد حزنت كثيرة لما حدث وقلت: حقا في التأني السلامة وفي العجلة الندامة، فلو أدرك السائق العواقب لاحترم قوانين المرور. </a:t>
            </a:r>
            <a:endParaRPr lang="ar-DZ" sz="2800" dirty="0" smtClean="0">
              <a:solidFill>
                <a:schemeClr val="tx1"/>
              </a:solidFill>
              <a:latin typeface="Arabic Typesetting" pitchFamily="66" charset="-78"/>
              <a:cs typeface="Arabic Typesetting" pitchFamily="66" charset="-78"/>
            </a:endParaRPr>
          </a:p>
          <a:p>
            <a:pPr algn="just" rtl="1"/>
            <a:r>
              <a:rPr lang="ar-DZ" sz="2800" cap="none" spc="0" dirty="0" smtClean="0">
                <a:solidFill>
                  <a:schemeClr val="tx1"/>
                </a:solidFill>
                <a:latin typeface="Arabic Typesetting" pitchFamily="66" charset="-78"/>
                <a:cs typeface="Arabic Typesetting" pitchFamily="66" charset="-78"/>
              </a:rPr>
              <a:t>________________________________________________</a:t>
            </a:r>
            <a:endParaRPr lang="fr-FR" sz="2800" cap="none" spc="0" dirty="0" smtClean="0">
              <a:solidFill>
                <a:schemeClr val="tx1"/>
              </a:solidFill>
              <a:latin typeface="Arabic Typesetting" pitchFamily="66" charset="-78"/>
              <a:cs typeface="Arabic Typesetting" pitchFamily="66" charset="-78"/>
            </a:endParaRPr>
          </a:p>
        </p:txBody>
      </p:sp>
    </p:spTree>
    <p:extLst>
      <p:ext uri="{BB962C8B-B14F-4D97-AF65-F5344CB8AC3E}">
        <p14:creationId xmlns:p14="http://schemas.microsoft.com/office/powerpoint/2010/main" val="317826491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p:cNvSpPr txBox="1">
            <a:spLocks/>
          </p:cNvSpPr>
          <p:nvPr/>
        </p:nvSpPr>
        <p:spPr>
          <a:xfrm>
            <a:off x="4860032" y="44625"/>
            <a:ext cx="4032448" cy="57606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r" rtl="1">
              <a:lnSpc>
                <a:spcPct val="120000"/>
              </a:lnSpc>
            </a:pPr>
            <a:r>
              <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8</a:t>
            </a:r>
            <a:r>
              <a:rPr lang="ar-DZ" sz="2800" b="1" cap="none" spc="0" dirty="0" smtClean="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rPr>
              <a:t>- اقرأ النص وأجب عن السؤال</a:t>
            </a:r>
            <a:endParaRPr lang="fr-FR" sz="2800" b="1" cap="none" spc="0" dirty="0">
              <a:solidFill>
                <a:schemeClr val="tx1"/>
              </a:solidFill>
              <a:effectLst>
                <a:outerShdw blurRad="38100" dist="38100" dir="2700000" algn="tl">
                  <a:srgbClr val="000000">
                    <a:alpha val="43137"/>
                  </a:srgbClr>
                </a:outerShdw>
              </a:effectLst>
              <a:latin typeface="Arabic Typesetting" pitchFamily="66" charset="-78"/>
              <a:cs typeface="Arabic Typesetting" pitchFamily="66" charset="-78"/>
            </a:endParaRPr>
          </a:p>
        </p:txBody>
      </p:sp>
      <p:sp>
        <p:nvSpPr>
          <p:cNvPr id="2" name="Rectangle 1"/>
          <p:cNvSpPr/>
          <p:nvPr/>
        </p:nvSpPr>
        <p:spPr>
          <a:xfrm>
            <a:off x="4320264" y="3369186"/>
            <a:ext cx="4572000" cy="707886"/>
          </a:xfrm>
          <a:prstGeom prst="rect">
            <a:avLst/>
          </a:prstGeom>
        </p:spPr>
        <p:txBody>
          <a:bodyPr>
            <a:spAutoFit/>
          </a:bodyPr>
          <a:lstStyle/>
          <a:p>
            <a:pPr lvl="0" algn="r" rtl="1"/>
            <a:r>
              <a:rPr lang="ar-SA" sz="4000" b="1" dirty="0" smtClean="0">
                <a:latin typeface="Arabic Typesetting" pitchFamily="66" charset="-78"/>
                <a:cs typeface="Arabic Typesetting" pitchFamily="66" charset="-78"/>
              </a:rPr>
              <a:t>م</a:t>
            </a:r>
            <a:r>
              <a:rPr lang="ar-DZ" sz="4000" b="1" dirty="0" smtClean="0">
                <a:latin typeface="Arabic Typesetting" pitchFamily="66" charset="-78"/>
                <a:cs typeface="Arabic Typesetting" pitchFamily="66" charset="-78"/>
              </a:rPr>
              <a:t>اذا نستنتج من النص</a:t>
            </a:r>
            <a:r>
              <a:rPr lang="ar-SA" sz="4000" b="1" dirty="0" smtClean="0">
                <a:latin typeface="Arabic Typesetting" pitchFamily="66" charset="-78"/>
                <a:cs typeface="Arabic Typesetting" pitchFamily="66" charset="-78"/>
              </a:rPr>
              <a:t>؟ </a:t>
            </a:r>
            <a:endParaRPr lang="fr-FR" sz="4000" b="1" dirty="0">
              <a:latin typeface="Arabic Typesetting" pitchFamily="66" charset="-78"/>
              <a:cs typeface="Arabic Typesetting" pitchFamily="66" charset="-78"/>
            </a:endParaRPr>
          </a:p>
        </p:txBody>
      </p:sp>
      <p:sp>
        <p:nvSpPr>
          <p:cNvPr id="9" name="Titre 1"/>
          <p:cNvSpPr txBox="1">
            <a:spLocks/>
          </p:cNvSpPr>
          <p:nvPr/>
        </p:nvSpPr>
        <p:spPr>
          <a:xfrm>
            <a:off x="971601" y="5437716"/>
            <a:ext cx="3443556"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 السلامة الندامة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1" name="Titre 1"/>
          <p:cNvSpPr txBox="1">
            <a:spLocks/>
          </p:cNvSpPr>
          <p:nvPr/>
        </p:nvSpPr>
        <p:spPr>
          <a:xfrm>
            <a:off x="4932040" y="5437716"/>
            <a:ext cx="3456384"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 التأني الندامة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2" name="Titre 1"/>
          <p:cNvSpPr txBox="1">
            <a:spLocks/>
          </p:cNvSpPr>
          <p:nvPr/>
        </p:nvSpPr>
        <p:spPr>
          <a:xfrm>
            <a:off x="4932040" y="4509121"/>
            <a:ext cx="3456384"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 العجلة السلامة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3" name="Titre 1"/>
          <p:cNvSpPr txBox="1">
            <a:spLocks/>
          </p:cNvSpPr>
          <p:nvPr/>
        </p:nvSpPr>
        <p:spPr>
          <a:xfrm>
            <a:off x="971601" y="4509121"/>
            <a:ext cx="3443556" cy="7200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rtl="1"/>
            <a:r>
              <a:rPr lang="ar-DZ" sz="4000" b="1" cap="none" spc="0" dirty="0" smtClean="0">
                <a:solidFill>
                  <a:schemeClr val="tx1"/>
                </a:solidFill>
                <a:effectLst>
                  <a:outerShdw blurRad="38100" dist="38100" dir="2700000" algn="tl">
                    <a:srgbClr val="000000">
                      <a:alpha val="43137"/>
                    </a:srgbClr>
                  </a:outerShdw>
                </a:effectLst>
                <a:latin typeface="Arabic Typesetting" pitchFamily="66" charset="-78"/>
                <a:cs typeface="+mj-cs"/>
              </a:rPr>
              <a:t>في العجلة الندامة</a:t>
            </a:r>
            <a:endParaRPr lang="fr-FR" sz="4000" b="1" cap="none" spc="0" dirty="0">
              <a:solidFill>
                <a:schemeClr val="tx1"/>
              </a:solidFill>
              <a:effectLst>
                <a:outerShdw blurRad="38100" dist="38100" dir="2700000" algn="tl">
                  <a:srgbClr val="000000">
                    <a:alpha val="43137"/>
                  </a:srgbClr>
                </a:outerShdw>
              </a:effectLst>
              <a:latin typeface="Arabic Typesetting" pitchFamily="66" charset="-78"/>
              <a:cs typeface="+mj-cs"/>
            </a:endParaRPr>
          </a:p>
        </p:txBody>
      </p:sp>
      <p:sp>
        <p:nvSpPr>
          <p:cNvPr id="10" name="Titre 1"/>
          <p:cNvSpPr txBox="1">
            <a:spLocks/>
          </p:cNvSpPr>
          <p:nvPr/>
        </p:nvSpPr>
        <p:spPr>
          <a:xfrm>
            <a:off x="144016" y="404664"/>
            <a:ext cx="8892480" cy="2736304"/>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just" rtl="1"/>
            <a:endParaRPr lang="fr-FR" cap="none" spc="0" dirty="0" smtClean="0">
              <a:solidFill>
                <a:schemeClr val="tx1"/>
              </a:solidFill>
              <a:latin typeface="Arabic Typesetting" pitchFamily="66" charset="-78"/>
              <a:cs typeface="Arabic Typesetting" pitchFamily="66" charset="-78"/>
            </a:endParaRPr>
          </a:p>
          <a:p>
            <a:pPr algn="ctr" rtl="1"/>
            <a:r>
              <a:rPr lang="ar-SA" sz="4000" b="1" dirty="0" smtClean="0">
                <a:solidFill>
                  <a:schemeClr val="tx1"/>
                </a:solidFill>
                <a:latin typeface="Arabic Typesetting" pitchFamily="66" charset="-78"/>
                <a:cs typeface="Arabic Typesetting" pitchFamily="66" charset="-78"/>
              </a:rPr>
              <a:t>حادث</a:t>
            </a:r>
            <a:r>
              <a:rPr lang="ar-DZ" sz="4000" b="1" dirty="0">
                <a:solidFill>
                  <a:schemeClr val="tx1"/>
                </a:solidFill>
                <a:latin typeface="Arabic Typesetting" pitchFamily="66" charset="-78"/>
                <a:cs typeface="Arabic Typesetting" pitchFamily="66" charset="-78"/>
              </a:rPr>
              <a:t> </a:t>
            </a:r>
            <a:r>
              <a:rPr lang="ar-SA" sz="4000" b="1" dirty="0" smtClean="0">
                <a:solidFill>
                  <a:schemeClr val="tx1"/>
                </a:solidFill>
                <a:latin typeface="Arabic Typesetting" pitchFamily="66" charset="-78"/>
                <a:cs typeface="Arabic Typesetting" pitchFamily="66" charset="-78"/>
              </a:rPr>
              <a:t>مرور</a:t>
            </a:r>
            <a:endParaRPr lang="fr-FR" sz="4000" b="1" dirty="0">
              <a:solidFill>
                <a:schemeClr val="tx1"/>
              </a:solidFill>
              <a:latin typeface="Arabic Typesetting" pitchFamily="66" charset="-78"/>
              <a:cs typeface="Arabic Typesetting" pitchFamily="66" charset="-78"/>
            </a:endParaRPr>
          </a:p>
          <a:p>
            <a:pPr algn="just" rtl="1"/>
            <a:r>
              <a:rPr lang="ar-SA" sz="2800" dirty="0">
                <a:solidFill>
                  <a:schemeClr val="tx1"/>
                </a:solidFill>
                <a:latin typeface="Arabic Typesetting" pitchFamily="66" charset="-78"/>
                <a:cs typeface="Arabic Typesetting" pitchFamily="66" charset="-78"/>
              </a:rPr>
              <a:t>وقع حادث مرور مؤلم، حيث اصطدمت سيارة بشاحنة، وذلك مساء اليوم أمام المسجد، وقد كان الحادث بسبب التجاوز الخطير الذي قام به سائق السيارة، وفي الحال تجمع الناس وحضرت سيارة الإسعاف و</a:t>
            </a:r>
            <a:r>
              <a:rPr lang="ar-DZ" sz="2800" dirty="0">
                <a:solidFill>
                  <a:schemeClr val="tx1"/>
                </a:solidFill>
                <a:latin typeface="Arabic Typesetting" pitchFamily="66" charset="-78"/>
                <a:cs typeface="Arabic Typesetting" pitchFamily="66" charset="-78"/>
              </a:rPr>
              <a:t>رجال </a:t>
            </a:r>
            <a:r>
              <a:rPr lang="ar-SA" sz="2800" dirty="0">
                <a:solidFill>
                  <a:schemeClr val="tx1"/>
                </a:solidFill>
                <a:latin typeface="Arabic Typesetting" pitchFamily="66" charset="-78"/>
                <a:cs typeface="Arabic Typesetting" pitchFamily="66" charset="-78"/>
              </a:rPr>
              <a:t>الشرطة، الذين أخدوا ينظمون حركة السيارات، بينما </a:t>
            </a:r>
            <a:r>
              <a:rPr lang="ar-DZ" sz="2800" dirty="0">
                <a:solidFill>
                  <a:schemeClr val="tx1"/>
                </a:solidFill>
                <a:latin typeface="Arabic Typesetting" pitchFamily="66" charset="-78"/>
                <a:cs typeface="Arabic Typesetting" pitchFamily="66" charset="-78"/>
              </a:rPr>
              <a:t>بدأ</a:t>
            </a:r>
            <a:r>
              <a:rPr lang="ar-SA" sz="2800" dirty="0">
                <a:solidFill>
                  <a:schemeClr val="tx1"/>
                </a:solidFill>
                <a:latin typeface="Arabic Typesetting" pitchFamily="66" charset="-78"/>
                <a:cs typeface="Arabic Typesetting" pitchFamily="66" charset="-78"/>
              </a:rPr>
              <a:t> رجال الإسعاف في إخراج المصابين من السيارة </a:t>
            </a:r>
            <a:r>
              <a:rPr lang="ar-DZ" sz="2800" dirty="0">
                <a:solidFill>
                  <a:schemeClr val="tx1"/>
                </a:solidFill>
                <a:latin typeface="Arabic Typesetting" pitchFamily="66" charset="-78"/>
                <a:cs typeface="Arabic Typesetting" pitchFamily="66" charset="-78"/>
              </a:rPr>
              <a:t>و</a:t>
            </a:r>
            <a:r>
              <a:rPr lang="ar-SA" sz="2800" dirty="0">
                <a:solidFill>
                  <a:schemeClr val="tx1"/>
                </a:solidFill>
                <a:latin typeface="Arabic Typesetting" pitchFamily="66" charset="-78"/>
                <a:cs typeface="Arabic Typesetting" pitchFamily="66" charset="-78"/>
              </a:rPr>
              <a:t>نقلهم إلى المستشفى، لقد حزنت كثيرة لما حدث وقلت: حقا في التأني السلامة وفي العجلة الندامة، فلو أدرك السائق العواقب لاحترم قوانين المرور. </a:t>
            </a:r>
            <a:endParaRPr lang="ar-DZ" sz="2800" dirty="0" smtClean="0">
              <a:solidFill>
                <a:schemeClr val="tx1"/>
              </a:solidFill>
              <a:latin typeface="Arabic Typesetting" pitchFamily="66" charset="-78"/>
              <a:cs typeface="Arabic Typesetting" pitchFamily="66" charset="-78"/>
            </a:endParaRPr>
          </a:p>
          <a:p>
            <a:pPr algn="just" rtl="1"/>
            <a:r>
              <a:rPr lang="ar-DZ" sz="2800" cap="none" spc="0" dirty="0" smtClean="0">
                <a:solidFill>
                  <a:schemeClr val="tx1"/>
                </a:solidFill>
                <a:latin typeface="Arabic Typesetting" pitchFamily="66" charset="-78"/>
                <a:cs typeface="Arabic Typesetting" pitchFamily="66" charset="-78"/>
              </a:rPr>
              <a:t>________________________________________________</a:t>
            </a:r>
            <a:endParaRPr lang="fr-FR" sz="2800" cap="none" spc="0" dirty="0" smtClean="0">
              <a:solidFill>
                <a:schemeClr val="tx1"/>
              </a:solidFill>
              <a:latin typeface="Arabic Typesetting" pitchFamily="66" charset="-78"/>
              <a:cs typeface="Arabic Typesetting" pitchFamily="66" charset="-78"/>
            </a:endParaRPr>
          </a:p>
        </p:txBody>
      </p:sp>
    </p:spTree>
    <p:extLst>
      <p:ext uri="{BB962C8B-B14F-4D97-AF65-F5344CB8AC3E}">
        <p14:creationId xmlns:p14="http://schemas.microsoft.com/office/powerpoint/2010/main" val="134991327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123728" y="260649"/>
            <a:ext cx="5040560" cy="792088"/>
          </a:xfrm>
          <a:noFill/>
          <a:ln>
            <a:noFill/>
          </a:ln>
        </p:spPr>
        <p:style>
          <a:lnRef idx="0">
            <a:schemeClr val="accent1"/>
          </a:lnRef>
          <a:fillRef idx="3">
            <a:schemeClr val="accent1"/>
          </a:fillRef>
          <a:effectRef idx="3">
            <a:schemeClr val="accent1"/>
          </a:effectRef>
          <a:fontRef idx="minor">
            <a:schemeClr val="lt1"/>
          </a:fontRef>
        </p:style>
        <p:txBody>
          <a:bodyPr>
            <a:normAutofit fontScale="90000"/>
          </a:bodyPr>
          <a:lstStyle/>
          <a:p>
            <a:r>
              <a:rPr lang="ar-DZ" sz="4800" b="1" dirty="0" smtClean="0">
                <a:solidFill>
                  <a:schemeClr val="tx1"/>
                </a:solidFill>
                <a:latin typeface="Arabic Typesetting" pitchFamily="66" charset="-78"/>
                <a:cs typeface="Arabic Typesetting" pitchFamily="66" charset="-78"/>
              </a:rPr>
              <a:t>لإتمام تقييم سابق أدخل البيانات التالية:</a:t>
            </a:r>
            <a:endParaRPr lang="fr-FR" sz="4800" b="1" dirty="0">
              <a:solidFill>
                <a:schemeClr val="tx1"/>
              </a:solidFill>
              <a:latin typeface="Arabic Typesetting" pitchFamily="66" charset="-78"/>
              <a:cs typeface="Arabic Typesetting" pitchFamily="66" charset="-78"/>
            </a:endParaRPr>
          </a:p>
        </p:txBody>
      </p:sp>
      <p:sp>
        <p:nvSpPr>
          <p:cNvPr id="6" name="Titre 1"/>
          <p:cNvSpPr txBox="1">
            <a:spLocks/>
          </p:cNvSpPr>
          <p:nvPr/>
        </p:nvSpPr>
        <p:spPr>
          <a:xfrm>
            <a:off x="3203848" y="2060849"/>
            <a:ext cx="3384327" cy="1724794"/>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chor="b">
            <a:noAutofit/>
            <a:scene3d>
              <a:camera prst="orthographicFront"/>
              <a:lightRig rig="balanced" dir="t">
                <a:rot lat="0" lon="0" rev="2100000"/>
              </a:lightRig>
            </a:scene3d>
            <a:sp3d extrusionH="57150" prstMaterial="metal">
              <a:bevelT w="38100" h="25400"/>
              <a:contourClr>
                <a:schemeClr val="bg2"/>
              </a:contourClr>
            </a:sp3d>
          </a:bodyPr>
          <a:lstStyle>
            <a:lvl1pPr algn="ctr" defTabSz="914400" rtl="0" eaLnBrk="1" latinLnBrk="0" hangingPunct="1">
              <a:spcBef>
                <a:spcPct val="0"/>
              </a:spcBef>
              <a:buNone/>
              <a:defRPr sz="5400" kern="1200">
                <a:ln w="3175">
                  <a:solidFill>
                    <a:schemeClr val="tx1">
                      <a:alpha val="65000"/>
                    </a:schemeClr>
                  </a:solidFill>
                </a:ln>
                <a:solidFill>
                  <a:schemeClr val="tx1"/>
                </a:solidFill>
                <a:effectLst>
                  <a:outerShdw blurRad="25400" dist="12700" dir="14220000" rotWithShape="0">
                    <a:prstClr val="black">
                      <a:alpha val="50000"/>
                    </a:prstClr>
                  </a:outerShdw>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r" rtl="1"/>
            <a:r>
              <a:rPr lang="ar-DZ" sz="3600" b="1" dirty="0" smtClean="0">
                <a:ln>
                  <a:noFill/>
                </a:ln>
                <a:solidFill>
                  <a:sysClr val="windowText" lastClr="000000"/>
                </a:solidFill>
                <a:effectLst/>
                <a:latin typeface="Arabic Typesetting" pitchFamily="66" charset="-78"/>
                <a:cs typeface="+mj-cs"/>
              </a:rPr>
              <a:t>الاسم:</a:t>
            </a:r>
          </a:p>
          <a:p>
            <a:pPr algn="r" rtl="1"/>
            <a:endParaRPr lang="ar-DZ" sz="3600" b="1" dirty="0" smtClean="0">
              <a:ln>
                <a:noFill/>
              </a:ln>
              <a:solidFill>
                <a:sysClr val="windowText" lastClr="000000"/>
              </a:solidFill>
              <a:effectLst/>
              <a:latin typeface="Arabic Typesetting" pitchFamily="66" charset="-78"/>
              <a:cs typeface="+mj-cs"/>
            </a:endParaRPr>
          </a:p>
          <a:p>
            <a:pPr algn="r" rtl="1"/>
            <a:endParaRPr lang="ar-DZ" sz="3600" b="1" dirty="0" smtClean="0">
              <a:ln>
                <a:noFill/>
              </a:ln>
              <a:solidFill>
                <a:sysClr val="windowText" lastClr="000000"/>
              </a:solidFill>
              <a:effectLst/>
              <a:latin typeface="Arabic Typesetting" pitchFamily="66" charset="-78"/>
              <a:cs typeface="+mj-cs"/>
            </a:endParaRPr>
          </a:p>
          <a:p>
            <a:pPr algn="r" rtl="1"/>
            <a:r>
              <a:rPr lang="ar-DZ" sz="3600" b="1" dirty="0" smtClean="0">
                <a:ln>
                  <a:noFill/>
                </a:ln>
                <a:solidFill>
                  <a:sysClr val="windowText" lastClr="000000"/>
                </a:solidFill>
                <a:effectLst/>
                <a:latin typeface="Arabic Typesetting" pitchFamily="66" charset="-78"/>
                <a:cs typeface="+mj-cs"/>
              </a:rPr>
              <a:t>تاريخ الميلاد:</a:t>
            </a:r>
          </a:p>
        </p:txBody>
      </p:sp>
      <p:pic>
        <p:nvPicPr>
          <p:cNvPr id="5" name="Picture 6" descr="C:\Users\Oussama\Desktop\mem2022\tools\img\green-start-button-png-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3928" y="5193336"/>
            <a:ext cx="1260000" cy="1260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à coins arrondis 2"/>
          <p:cNvSpPr/>
          <p:nvPr/>
        </p:nvSpPr>
        <p:spPr>
          <a:xfrm>
            <a:off x="2627784" y="2204865"/>
            <a:ext cx="3888432" cy="576064"/>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 name="Rectangle à coins arrondis 6"/>
          <p:cNvSpPr/>
          <p:nvPr/>
        </p:nvSpPr>
        <p:spPr>
          <a:xfrm>
            <a:off x="2627784" y="3861048"/>
            <a:ext cx="3888432" cy="576064"/>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423233501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31640" y="260649"/>
            <a:ext cx="6480720" cy="792088"/>
          </a:xfrm>
          <a:noFill/>
          <a:ln>
            <a:noFill/>
          </a:ln>
        </p:spPr>
        <p:style>
          <a:lnRef idx="0">
            <a:schemeClr val="accent1"/>
          </a:lnRef>
          <a:fillRef idx="3">
            <a:schemeClr val="accent1"/>
          </a:fillRef>
          <a:effectRef idx="3">
            <a:schemeClr val="accent1"/>
          </a:effectRef>
          <a:fontRef idx="minor">
            <a:schemeClr val="lt1"/>
          </a:fontRef>
        </p:style>
        <p:txBody>
          <a:bodyPr>
            <a:normAutofit fontScale="90000"/>
          </a:bodyPr>
          <a:lstStyle/>
          <a:p>
            <a:r>
              <a:rPr lang="ar-DZ" sz="4800" b="1" dirty="0" smtClean="0">
                <a:solidFill>
                  <a:schemeClr val="tx1"/>
                </a:solidFill>
                <a:latin typeface="Arabic Typesetting" pitchFamily="66" charset="-78"/>
                <a:cs typeface="Arabic Typesetting" pitchFamily="66" charset="-78"/>
              </a:rPr>
              <a:t>للاطلاع على نتائج تقييم سابق أدخل البيانات التالية:</a:t>
            </a:r>
            <a:endParaRPr lang="fr-FR" sz="4800" b="1" dirty="0">
              <a:solidFill>
                <a:schemeClr val="tx1"/>
              </a:solidFill>
              <a:latin typeface="Arabic Typesetting" pitchFamily="66" charset="-78"/>
              <a:cs typeface="Arabic Typesetting" pitchFamily="66" charset="-78"/>
            </a:endParaRPr>
          </a:p>
        </p:txBody>
      </p:sp>
      <p:sp>
        <p:nvSpPr>
          <p:cNvPr id="6" name="Titre 1"/>
          <p:cNvSpPr txBox="1">
            <a:spLocks/>
          </p:cNvSpPr>
          <p:nvPr/>
        </p:nvSpPr>
        <p:spPr>
          <a:xfrm>
            <a:off x="3203848" y="2060849"/>
            <a:ext cx="3384327" cy="1724794"/>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chor="b">
            <a:noAutofit/>
            <a:scene3d>
              <a:camera prst="orthographicFront"/>
              <a:lightRig rig="balanced" dir="t">
                <a:rot lat="0" lon="0" rev="2100000"/>
              </a:lightRig>
            </a:scene3d>
            <a:sp3d extrusionH="57150" prstMaterial="metal">
              <a:bevelT w="38100" h="25400"/>
              <a:contourClr>
                <a:schemeClr val="bg2"/>
              </a:contourClr>
            </a:sp3d>
          </a:bodyPr>
          <a:lstStyle>
            <a:lvl1pPr algn="ctr" defTabSz="914400" rtl="0" eaLnBrk="1" latinLnBrk="0" hangingPunct="1">
              <a:spcBef>
                <a:spcPct val="0"/>
              </a:spcBef>
              <a:buNone/>
              <a:defRPr sz="5400" kern="1200">
                <a:ln w="3175">
                  <a:solidFill>
                    <a:schemeClr val="tx1">
                      <a:alpha val="65000"/>
                    </a:schemeClr>
                  </a:solidFill>
                </a:ln>
                <a:solidFill>
                  <a:schemeClr val="tx1"/>
                </a:solidFill>
                <a:effectLst>
                  <a:outerShdw blurRad="25400" dist="12700" dir="14220000" rotWithShape="0">
                    <a:prstClr val="black">
                      <a:alpha val="50000"/>
                    </a:prstClr>
                  </a:outerShdw>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r" rtl="1"/>
            <a:r>
              <a:rPr lang="ar-DZ" sz="3600" b="1" dirty="0" smtClean="0">
                <a:ln>
                  <a:noFill/>
                </a:ln>
                <a:solidFill>
                  <a:sysClr val="windowText" lastClr="000000"/>
                </a:solidFill>
                <a:effectLst/>
                <a:latin typeface="Arabic Typesetting" pitchFamily="66" charset="-78"/>
                <a:cs typeface="+mj-cs"/>
              </a:rPr>
              <a:t>الاسم:</a:t>
            </a:r>
          </a:p>
          <a:p>
            <a:pPr algn="r" rtl="1"/>
            <a:endParaRPr lang="ar-DZ" sz="3600" b="1" dirty="0" smtClean="0">
              <a:ln>
                <a:noFill/>
              </a:ln>
              <a:solidFill>
                <a:sysClr val="windowText" lastClr="000000"/>
              </a:solidFill>
              <a:effectLst/>
              <a:latin typeface="Arabic Typesetting" pitchFamily="66" charset="-78"/>
              <a:cs typeface="+mj-cs"/>
            </a:endParaRPr>
          </a:p>
          <a:p>
            <a:pPr algn="r" rtl="1"/>
            <a:endParaRPr lang="ar-DZ" sz="3600" b="1" dirty="0" smtClean="0">
              <a:ln>
                <a:noFill/>
              </a:ln>
              <a:solidFill>
                <a:sysClr val="windowText" lastClr="000000"/>
              </a:solidFill>
              <a:effectLst/>
              <a:latin typeface="Arabic Typesetting" pitchFamily="66" charset="-78"/>
              <a:cs typeface="+mj-cs"/>
            </a:endParaRPr>
          </a:p>
          <a:p>
            <a:pPr algn="r" rtl="1"/>
            <a:r>
              <a:rPr lang="ar-DZ" sz="3600" b="1" dirty="0" smtClean="0">
                <a:ln>
                  <a:noFill/>
                </a:ln>
                <a:solidFill>
                  <a:sysClr val="windowText" lastClr="000000"/>
                </a:solidFill>
                <a:effectLst/>
                <a:latin typeface="Arabic Typesetting" pitchFamily="66" charset="-78"/>
                <a:cs typeface="+mj-cs"/>
              </a:rPr>
              <a:t>تاريخ الميلاد:</a:t>
            </a:r>
          </a:p>
        </p:txBody>
      </p:sp>
      <p:pic>
        <p:nvPicPr>
          <p:cNvPr id="5" name="Picture 6" descr="C:\Users\Oussama\Desktop\mem2022\tools\img\green-start-button-png-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3928" y="5193336"/>
            <a:ext cx="1260000" cy="1260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à coins arrondis 2"/>
          <p:cNvSpPr/>
          <p:nvPr/>
        </p:nvSpPr>
        <p:spPr>
          <a:xfrm>
            <a:off x="2627784" y="2204865"/>
            <a:ext cx="3888432" cy="576064"/>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 name="Rectangle à coins arrondis 6"/>
          <p:cNvSpPr/>
          <p:nvPr/>
        </p:nvSpPr>
        <p:spPr>
          <a:xfrm>
            <a:off x="2627784" y="3861048"/>
            <a:ext cx="3888432" cy="576064"/>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14972287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Oussama\Desktop\memoire 2022\sawca7\sawca4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0186"/>
            <a:ext cx="4793769" cy="6837813"/>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pic>
        <p:nvPicPr>
          <p:cNvPr id="9" name="Picture 5" descr="C:\Users\Oussama\Desktop\mem2022\tools\img\Nouveau dossier\kisspng-computer-icons-login-icon-design-exit-5abfc840a37e39.3464834815225180806697.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24329" y="5805352"/>
            <a:ext cx="1370772" cy="792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Oussama\Desktop\téléchargemen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473" y="5517232"/>
            <a:ext cx="1179183" cy="1179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12059"/>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12797</TotalTime>
  <Words>1726</Words>
  <Application>Microsoft Office PowerPoint</Application>
  <PresentationFormat>Affichage à l'écran (4:3)</PresentationFormat>
  <Paragraphs>317</Paragraphs>
  <Slides>72</Slides>
  <Notes>2</Notes>
  <HiddenSlides>0</HiddenSlides>
  <MMClips>0</MMClips>
  <ScaleCrop>false</ScaleCrop>
  <HeadingPairs>
    <vt:vector size="4" baseType="variant">
      <vt:variant>
        <vt:lpstr>Thème</vt:lpstr>
      </vt:variant>
      <vt:variant>
        <vt:i4>1</vt:i4>
      </vt:variant>
      <vt:variant>
        <vt:lpstr>Titres des diapositives</vt:lpstr>
      </vt:variant>
      <vt:variant>
        <vt:i4>72</vt:i4>
      </vt:variant>
    </vt:vector>
  </HeadingPairs>
  <TitlesOfParts>
    <vt:vector size="73" baseType="lpstr">
      <vt:lpstr>Thème Office</vt:lpstr>
      <vt:lpstr>برنامج معلوماتي لتقييم الفهم الكتابي عند الحبسي الراشد</vt:lpstr>
      <vt:lpstr>برنامج معلوماتي لتقييم الفهم الكتابي عند الحبسي الراشد</vt:lpstr>
      <vt:lpstr>المعلومات الشخصية</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لإتمام تقييم سابق أدخل البيانات التالية:</vt:lpstr>
      <vt:lpstr>للاطلاع على نتائج تقييم سابق أدخل البيانات التالية:</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برنامج معلوماتي لتقييم الفهم الكتابي عند الحبسي الراشد</dc:title>
  <dc:creator>Oussama</dc:creator>
  <cp:lastModifiedBy>Windows User</cp:lastModifiedBy>
  <cp:revision>178</cp:revision>
  <cp:lastPrinted>2022-05-21T14:07:46Z</cp:lastPrinted>
  <dcterms:created xsi:type="dcterms:W3CDTF">2022-03-07T18:48:45Z</dcterms:created>
  <dcterms:modified xsi:type="dcterms:W3CDTF">2026-10-20T08:56:40Z</dcterms:modified>
</cp:coreProperties>
</file>